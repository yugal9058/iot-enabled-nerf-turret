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5" r:id="rId10"/>
    <p:sldId id="266" r:id="rId11"/>
    <p:sldId id="267" r:id="rId12"/>
    <p:sldId id="273" r:id="rId13"/>
    <p:sldId id="274" r:id="rId14"/>
    <p:sldId id="275" r:id="rId15"/>
    <p:sldId id="270" r:id="rId16"/>
    <p:sldId id="272" r:id="rId17"/>
    <p:sldId id="271"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254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6E6E6"/>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6E6E6"/>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01" d="100"/>
          <a:sy n="101" d="100"/>
        </p:scale>
        <p:origin x="8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406400" indent="-355600" algn="ctr">
              <a:buClrTx/>
              <a:buSzTx/>
              <a:buFontTx/>
              <a:buNone/>
              <a:defRPr sz="2400"/>
            </a:lvl1pPr>
            <a:lvl2pPr marL="406400" indent="127000" algn="ctr">
              <a:buClrTx/>
              <a:buSzTx/>
              <a:buFontTx/>
              <a:buNone/>
              <a:defRPr sz="2400"/>
            </a:lvl2pPr>
            <a:lvl3pPr marL="406400" indent="609600" algn="ctr">
              <a:buClrTx/>
              <a:buSzTx/>
              <a:buFontTx/>
              <a:buNone/>
              <a:defRPr sz="2400"/>
            </a:lvl3pPr>
            <a:lvl4pPr marL="406400" indent="1079500" algn="ctr">
              <a:buClrTx/>
              <a:buSzTx/>
              <a:buFontTx/>
              <a:buNone/>
              <a:defRPr sz="2400"/>
            </a:lvl4pPr>
            <a:lvl5pPr marL="406400" indent="1536700" algn="ctr">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839787" y="365125"/>
            <a:ext cx="10515601" cy="1325563"/>
          </a:xfrm>
          <a:prstGeom prst="rect">
            <a:avLst/>
          </a:prstGeom>
        </p:spPr>
        <p:txBody>
          <a:bodyPr anchor="ctr"/>
          <a:lstStyle>
            <a:lvl1pPr>
              <a:defRPr sz="4400"/>
            </a:lvl1pPr>
          </a:lstStyle>
          <a:p>
            <a:r>
              <a:t>Title Text</a:t>
            </a:r>
          </a:p>
        </p:txBody>
      </p:sp>
      <p:sp>
        <p:nvSpPr>
          <p:cNvPr id="21" name="Body Level One…"/>
          <p:cNvSpPr txBox="1">
            <a:spLocks noGrp="1"/>
          </p:cNvSpPr>
          <p:nvPr>
            <p:ph type="body" sz="quarter" idx="1"/>
          </p:nvPr>
        </p:nvSpPr>
        <p:spPr>
          <a:xfrm>
            <a:off x="839787" y="1681163"/>
            <a:ext cx="5157789" cy="823913"/>
          </a:xfrm>
          <a:prstGeom prst="rect">
            <a:avLst/>
          </a:prstGeom>
        </p:spPr>
        <p:txBody>
          <a:bodyPr anchor="b"/>
          <a:lstStyle>
            <a:lvl1pPr marL="228600" indent="0">
              <a:buClrTx/>
              <a:buSzTx/>
              <a:buFontTx/>
              <a:buNone/>
              <a:defRPr sz="2400" b="1"/>
            </a:lvl1pPr>
            <a:lvl2pPr marL="228600" indent="457200">
              <a:buClrTx/>
              <a:buSzTx/>
              <a:buFontTx/>
              <a:buNone/>
              <a:defRPr sz="2400" b="1"/>
            </a:lvl2pPr>
            <a:lvl3pPr marL="228600" indent="914400">
              <a:buClrTx/>
              <a:buSzTx/>
              <a:buFontTx/>
              <a:buNone/>
              <a:defRPr sz="2400" b="1"/>
            </a:lvl3pPr>
            <a:lvl4pPr marL="228600" indent="1371600">
              <a:buClrTx/>
              <a:buSzTx/>
              <a:buFontTx/>
              <a:buNone/>
              <a:defRPr sz="2400" b="1"/>
            </a:lvl4pPr>
            <a:lvl5pPr marL="228600" indent="1828800">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22" name="Google Shape;24;p3"/>
          <p:cNvSpPr txBox="1">
            <a:spLocks noGrp="1"/>
          </p:cNvSpPr>
          <p:nvPr>
            <p:ph type="body" sz="half" idx="21"/>
          </p:nvPr>
        </p:nvSpPr>
        <p:spPr>
          <a:xfrm>
            <a:off x="839787" y="2505075"/>
            <a:ext cx="5157789" cy="3684588"/>
          </a:xfrm>
          <a:prstGeom prst="rect">
            <a:avLst/>
          </a:prstGeom>
        </p:spPr>
        <p:txBody>
          <a:bodyPr/>
          <a:lstStyle/>
          <a:p>
            <a:pPr indent="-342900">
              <a:buSzPts val="2800"/>
              <a:defRPr sz="2800"/>
            </a:pPr>
            <a:endParaRPr/>
          </a:p>
        </p:txBody>
      </p:sp>
      <p:sp>
        <p:nvSpPr>
          <p:cNvPr id="23" name="Google Shape;25;p3"/>
          <p:cNvSpPr txBox="1">
            <a:spLocks noGrp="1"/>
          </p:cNvSpPr>
          <p:nvPr>
            <p:ph type="body" sz="quarter" idx="22"/>
          </p:nvPr>
        </p:nvSpPr>
        <p:spPr>
          <a:xfrm>
            <a:off x="6172200" y="1681163"/>
            <a:ext cx="5183188" cy="823913"/>
          </a:xfrm>
          <a:prstGeom prst="rect">
            <a:avLst/>
          </a:prstGeom>
        </p:spPr>
        <p:txBody>
          <a:bodyPr anchor="b"/>
          <a:lstStyle/>
          <a:p>
            <a:pPr marL="228600" indent="0">
              <a:buClrTx/>
              <a:buSzTx/>
              <a:buFontTx/>
              <a:buNone/>
              <a:defRPr sz="2400" b="1"/>
            </a:pPr>
            <a:endParaRPr/>
          </a:p>
        </p:txBody>
      </p:sp>
      <p:sp>
        <p:nvSpPr>
          <p:cNvPr id="24" name="Google Shape;26;p3"/>
          <p:cNvSpPr txBox="1">
            <a:spLocks noGrp="1"/>
          </p:cNvSpPr>
          <p:nvPr>
            <p:ph type="body" sz="half" idx="23"/>
          </p:nvPr>
        </p:nvSpPr>
        <p:spPr>
          <a:xfrm>
            <a:off x="6172200" y="2505075"/>
            <a:ext cx="5183188" cy="3684588"/>
          </a:xfrm>
          <a:prstGeom prst="rect">
            <a:avLst/>
          </a:prstGeom>
        </p:spPr>
        <p:txBody>
          <a:bodyPr/>
          <a:lstStyle/>
          <a:p>
            <a:pPr indent="-342900">
              <a:buSzPts val="2800"/>
              <a:defRPr sz="2800"/>
            </a:pPr>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32" name="Title Text"/>
          <p:cNvSpPr txBox="1">
            <a:spLocks noGrp="1"/>
          </p:cNvSpPr>
          <p:nvPr>
            <p:ph type="title"/>
          </p:nvPr>
        </p:nvSpPr>
        <p:spPr>
          <a:prstGeom prst="rect">
            <a:avLst/>
          </a:prstGeom>
        </p:spPr>
        <p:txBody>
          <a:bodyPr/>
          <a:lstStyle/>
          <a:p>
            <a:r>
              <a:t>Title Text</a:t>
            </a:r>
          </a:p>
        </p:txBody>
      </p:sp>
      <p:sp>
        <p:nvSpPr>
          <p:cNvPr id="33"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4" name="Google Shape;33;p4"/>
          <p:cNvSpPr txBox="1">
            <a:spLocks noGrp="1"/>
          </p:cNvSpPr>
          <p:nvPr>
            <p:ph type="body" sz="quarter" idx="21"/>
          </p:nvPr>
        </p:nvSpPr>
        <p:spPr>
          <a:xfrm>
            <a:off x="839787" y="2057400"/>
            <a:ext cx="3932239" cy="3811588"/>
          </a:xfrm>
          <a:prstGeom prst="rect">
            <a:avLst/>
          </a:prstGeom>
        </p:spPr>
        <p:txBody>
          <a:bodyPr/>
          <a:lstStyle/>
          <a:p>
            <a:pPr marL="228600" indent="0">
              <a:buClrTx/>
              <a:buSzTx/>
              <a:buFontTx/>
              <a:buNone/>
              <a:defRPr sz="1600"/>
            </a:pPr>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42" name="Title Text"/>
          <p:cNvSpPr txBox="1">
            <a:spLocks noGrp="1"/>
          </p:cNvSpPr>
          <p:nvPr>
            <p:ph type="title"/>
          </p:nvPr>
        </p:nvSpPr>
        <p:spPr>
          <a:prstGeom prst="rect">
            <a:avLst/>
          </a:prstGeom>
        </p:spPr>
        <p:txBody>
          <a:bodyPr/>
          <a:lstStyle/>
          <a:p>
            <a:r>
              <a:t>Title Text</a:t>
            </a:r>
          </a:p>
        </p:txBody>
      </p:sp>
      <p:sp>
        <p:nvSpPr>
          <p:cNvPr id="43" name="Google Shape;39;p5"/>
          <p:cNvSpPr>
            <a:spLocks noGrp="1"/>
          </p:cNvSpPr>
          <p:nvPr>
            <p:ph type="pic" sz="half" idx="21"/>
          </p:nvPr>
        </p:nvSpPr>
        <p:spPr>
          <a:prstGeom prst="rect">
            <a:avLst/>
          </a:prstGeom>
        </p:spPr>
        <p:txBody>
          <a:bodyPr lIns="91439" tIns="45719" rIns="91439" bIns="45719">
            <a:noAutofit/>
          </a:bodyPr>
          <a:lstStyle/>
          <a:p>
            <a:endParaRPr/>
          </a:p>
        </p:txBody>
      </p:sp>
      <p:sp>
        <p:nvSpPr>
          <p:cNvPr id="44" name="Body Level One…"/>
          <p:cNvSpPr txBox="1">
            <a:spLocks noGrp="1"/>
          </p:cNvSpPr>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8200" y="365125"/>
            <a:ext cx="10515600" cy="1325563"/>
          </a:xfrm>
          <a:prstGeom prst="rect">
            <a:avLst/>
          </a:prstGeom>
        </p:spPr>
        <p:txBody>
          <a:bodyPr anchor="ctr"/>
          <a:lstStyle>
            <a:lvl1pPr>
              <a:defRPr sz="4400"/>
            </a:lvl1pPr>
          </a:lstStyle>
          <a:p>
            <a:r>
              <a:t>Title Text</a:t>
            </a:r>
          </a:p>
        </p:txBody>
      </p:sp>
      <p:sp>
        <p:nvSpPr>
          <p:cNvPr id="53" name="Body Level One…"/>
          <p:cNvSpPr txBox="1">
            <a:spLocks noGrp="1"/>
          </p:cNvSpPr>
          <p:nvPr>
            <p:ph type="body" idx="1"/>
          </p:nvPr>
        </p:nvSpPr>
        <p:spPr>
          <a:xfrm rot="5400000">
            <a:off x="3920330" y="-1256506"/>
            <a:ext cx="4351339" cy="10515601"/>
          </a:xfrm>
          <a:prstGeom prst="rect">
            <a:avLst/>
          </a:prstGeom>
        </p:spPr>
        <p:txBody>
          <a:bodyPr/>
          <a:lstStyle>
            <a:lvl1pPr indent="-342900">
              <a:buSzPts val="2800"/>
              <a:defRPr sz="2800"/>
            </a:lvl1pPr>
            <a:lvl2pPr marL="971550" indent="-400050">
              <a:buSzPts val="2800"/>
              <a:defRPr sz="2800"/>
            </a:lvl2pPr>
            <a:lvl3pPr marL="1508760" indent="-480060">
              <a:buSzPts val="2800"/>
              <a:defRPr sz="2800"/>
            </a:lvl3pPr>
            <a:lvl4pPr marL="2019300" indent="-533400">
              <a:buSzPts val="2800"/>
              <a:defRPr sz="2800"/>
            </a:lvl4pPr>
            <a:lvl5pPr marL="2476500" indent="-533400">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61" name="Title Text"/>
          <p:cNvSpPr txBox="1">
            <a:spLocks noGrp="1"/>
          </p:cNvSpPr>
          <p:nvPr>
            <p:ph type="title"/>
          </p:nvPr>
        </p:nvSpPr>
        <p:spPr>
          <a:xfrm rot="5400000">
            <a:off x="7133431" y="1956593"/>
            <a:ext cx="5811839" cy="2628901"/>
          </a:xfrm>
          <a:prstGeom prst="rect">
            <a:avLst/>
          </a:prstGeom>
        </p:spPr>
        <p:txBody>
          <a:bodyPr anchor="ctr"/>
          <a:lstStyle>
            <a:lvl1pPr>
              <a:defRPr sz="4400"/>
            </a:lvl1pPr>
          </a:lstStyle>
          <a:p>
            <a:r>
              <a:t>Title Text</a:t>
            </a:r>
          </a:p>
        </p:txBody>
      </p:sp>
      <p:sp>
        <p:nvSpPr>
          <p:cNvPr id="62" name="Body Level One…"/>
          <p:cNvSpPr txBox="1">
            <a:spLocks noGrp="1"/>
          </p:cNvSpPr>
          <p:nvPr>
            <p:ph type="body" idx="1"/>
          </p:nvPr>
        </p:nvSpPr>
        <p:spPr>
          <a:xfrm rot="5400000">
            <a:off x="1799431" y="-596107"/>
            <a:ext cx="5811838" cy="7734301"/>
          </a:xfrm>
          <a:prstGeom prst="rect">
            <a:avLst/>
          </a:prstGeom>
        </p:spPr>
        <p:txBody>
          <a:bodyPr/>
          <a:lstStyle>
            <a:lvl1pPr indent="-342900">
              <a:buSzPts val="2800"/>
              <a:defRPr sz="2800"/>
            </a:lvl1pPr>
            <a:lvl2pPr marL="971550" indent="-400050">
              <a:buSzPts val="2800"/>
              <a:defRPr sz="2800"/>
            </a:lvl2pPr>
            <a:lvl3pPr marL="1508760" indent="-480060">
              <a:buSzPts val="2800"/>
              <a:defRPr sz="2800"/>
            </a:lvl3pPr>
            <a:lvl4pPr marL="2019300" indent="-533400">
              <a:buSzPts val="2800"/>
              <a:defRPr sz="2800"/>
            </a:lvl4pPr>
            <a:lvl5pPr marL="2476500" indent="-533400">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8"/>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9787" y="457200"/>
            <a:ext cx="3932239" cy="1600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b">
            <a:normAutofit/>
          </a:bodyPr>
          <a:lstStyle/>
          <a:p>
            <a:r>
              <a:t>Title Text</a:t>
            </a:r>
          </a:p>
        </p:txBody>
      </p:sp>
      <p:sp>
        <p:nvSpPr>
          <p:cNvPr id="3" name="Body Level One…"/>
          <p:cNvSpPr txBox="1">
            <a:spLocks noGrp="1"/>
          </p:cNvSpPr>
          <p:nvPr>
            <p:ph type="body" idx="1"/>
          </p:nvPr>
        </p:nvSpPr>
        <p:spPr>
          <a:xfrm>
            <a:off x="5183187" y="987425"/>
            <a:ext cx="6172201" cy="48736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9pPr>
    </p:titleStyle>
    <p:bodyStyle>
      <a:lvl1pPr marL="457200" marR="0" indent="-431800"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1pPr>
      <a:lvl2pPr marL="972457" marR="0" indent="-464457"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2pPr>
      <a:lvl3pPr marL="1498600" marR="0" indent="-508000"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3pPr>
      <a:lvl4pPr marL="2042160" marR="0" indent="-568960"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4pPr>
      <a:lvl5pPr marL="2499360" marR="0" indent="-568960"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5pPr>
      <a:lvl6pPr marL="2956560" marR="0" indent="-568960"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6pPr>
      <a:lvl7pPr marL="3413759" marR="0" indent="-568959"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7pPr>
      <a:lvl8pPr marL="3870959" marR="0" indent="-568959"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8pPr>
      <a:lvl9pPr marL="4328159" marR="0" indent="-568959" algn="l" defTabSz="914400" rtl="0" latinLnBrk="0">
        <a:lnSpc>
          <a:spcPct val="90000"/>
        </a:lnSpc>
        <a:spcBef>
          <a:spcPts val="10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Google Shape;60;p8"/>
          <p:cNvSpPr txBox="1">
            <a:spLocks noGrp="1"/>
          </p:cNvSpPr>
          <p:nvPr>
            <p:ph type="ctrTitle"/>
          </p:nvPr>
        </p:nvSpPr>
        <p:spPr>
          <a:xfrm>
            <a:off x="264159" y="2446649"/>
            <a:ext cx="11663702" cy="1964701"/>
          </a:xfrm>
          <a:prstGeom prst="rect">
            <a:avLst/>
          </a:prstGeom>
          <a:solidFill>
            <a:srgbClr val="EDEDED"/>
          </a:solidFill>
          <a:ln w="76200">
            <a:solidFill>
              <a:srgbClr val="000000"/>
            </a:solidFill>
            <a:round/>
          </a:ln>
        </p:spPr>
        <p:txBody>
          <a:bodyPr/>
          <a:lstStyle/>
          <a:p>
            <a:pPr defTabSz="530351">
              <a:defRPr sz="3248" b="1">
                <a:solidFill>
                  <a:srgbClr val="1F3864"/>
                </a:solidFill>
                <a:latin typeface="Times Roman"/>
                <a:ea typeface="Times Roman"/>
                <a:cs typeface="Times Roman"/>
                <a:sym typeface="Times Roman"/>
              </a:defRPr>
            </a:pPr>
            <a:r>
              <a:rPr dirty="0"/>
              <a:t>Smart </a:t>
            </a:r>
            <a:r>
              <a:rPr dirty="0" err="1"/>
              <a:t>Shot:Iot</a:t>
            </a:r>
            <a:r>
              <a:rPr dirty="0"/>
              <a:t> Nerf Turret With Bluetooth Control</a:t>
            </a:r>
            <a:br>
              <a:rPr dirty="0"/>
            </a:br>
            <a:endParaRPr dirty="0"/>
          </a:p>
        </p:txBody>
      </p:sp>
      <p:pic>
        <p:nvPicPr>
          <p:cNvPr id="73" name="Google Shape;61;p8" descr="Google Shape;61;p8"/>
          <p:cNvPicPr>
            <a:picLocks noChangeAspect="1"/>
          </p:cNvPicPr>
          <p:nvPr/>
        </p:nvPicPr>
        <p:blipFill>
          <a:blip r:embed="rId2"/>
          <a:srcRect l="10536" t="16196" r="7963" b="26712"/>
          <a:stretch>
            <a:fillRect/>
          </a:stretch>
        </p:blipFill>
        <p:spPr>
          <a:xfrm>
            <a:off x="9132953" y="31007"/>
            <a:ext cx="2794888" cy="1076528"/>
          </a:xfrm>
          <a:prstGeom prst="rect">
            <a:avLst/>
          </a:prstGeom>
          <a:ln w="12700">
            <a:miter lim="400000"/>
          </a:ln>
        </p:spPr>
      </p:pic>
      <p:sp>
        <p:nvSpPr>
          <p:cNvPr id="74" name="Google Shape;62;p8"/>
          <p:cNvSpPr txBox="1">
            <a:spLocks noGrp="1"/>
          </p:cNvSpPr>
          <p:nvPr>
            <p:ph type="subTitle" sz="half" idx="1"/>
          </p:nvPr>
        </p:nvSpPr>
        <p:spPr>
          <a:xfrm>
            <a:off x="7150100" y="5714532"/>
            <a:ext cx="4529300" cy="402803"/>
          </a:xfrm>
          <a:prstGeom prst="rect">
            <a:avLst/>
          </a:prstGeom>
          <a:solidFill>
            <a:srgbClr val="D8E2F3"/>
          </a:solidFill>
        </p:spPr>
        <p:txBody>
          <a:bodyPr>
            <a:normAutofit fontScale="92500" lnSpcReduction="10000"/>
          </a:bodyPr>
          <a:lstStyle/>
          <a:p>
            <a:pPr>
              <a:defRPr sz="2700" b="1">
                <a:solidFill>
                  <a:srgbClr val="002060"/>
                </a:solidFill>
                <a:latin typeface="Times New Roman"/>
                <a:ea typeface="Times New Roman"/>
                <a:cs typeface="Times New Roman"/>
                <a:sym typeface="Times New Roman"/>
              </a:defRPr>
            </a:pPr>
            <a:r>
              <a:rPr dirty="0"/>
              <a:t>Submitted By:- Yugal </a:t>
            </a:r>
            <a:r>
              <a:rPr lang="en-US" dirty="0"/>
              <a:t>K</a:t>
            </a:r>
            <a:r>
              <a:rPr dirty="0"/>
              <a:t>umar         </a:t>
            </a:r>
          </a:p>
        </p:txBody>
      </p:sp>
      <p:pic>
        <p:nvPicPr>
          <p:cNvPr id="75" name="Google Shape;63;p8" descr="Google Shape;63;p8"/>
          <p:cNvPicPr>
            <a:picLocks noChangeAspect="1"/>
          </p:cNvPicPr>
          <p:nvPr/>
        </p:nvPicPr>
        <p:blipFill>
          <a:blip r:embed="rId3"/>
          <a:stretch>
            <a:fillRect/>
          </a:stretch>
        </p:blipFill>
        <p:spPr>
          <a:xfrm>
            <a:off x="8765222" y="6187440"/>
            <a:ext cx="3426779" cy="500714"/>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Google Shape;68;p9"/>
          <p:cNvSpPr txBox="1">
            <a:spLocks noGrp="1"/>
          </p:cNvSpPr>
          <p:nvPr>
            <p:ph type="title"/>
          </p:nvPr>
        </p:nvSpPr>
        <p:spPr>
          <a:xfrm>
            <a:off x="572245" y="160109"/>
            <a:ext cx="10515601" cy="1325701"/>
          </a:xfrm>
          <a:prstGeom prst="rect">
            <a:avLst/>
          </a:prstGeom>
        </p:spPr>
        <p:txBody>
          <a:bodyPr/>
          <a:lstStyle>
            <a:lvl1pPr>
              <a:defRPr sz="5400" b="1"/>
            </a:lvl1pPr>
          </a:lstStyle>
          <a:p>
            <a:r>
              <a:t>Index of Contents</a:t>
            </a:r>
          </a:p>
        </p:txBody>
      </p:sp>
      <p:pic>
        <p:nvPicPr>
          <p:cNvPr id="78" name="Google Shape;69;p9" descr="Google Shape;69;p9"/>
          <p:cNvPicPr>
            <a:picLocks noChangeAspect="1"/>
          </p:cNvPicPr>
          <p:nvPr/>
        </p:nvPicPr>
        <p:blipFill>
          <a:blip r:embed="rId2"/>
          <a:srcRect l="10536" t="16196" r="7963" b="26712"/>
          <a:stretch>
            <a:fillRect/>
          </a:stretch>
        </p:blipFill>
        <p:spPr>
          <a:xfrm>
            <a:off x="9113519" y="93900"/>
            <a:ext cx="2895601" cy="1158241"/>
          </a:xfrm>
          <a:prstGeom prst="rect">
            <a:avLst/>
          </a:prstGeom>
          <a:ln w="12700">
            <a:miter lim="400000"/>
          </a:ln>
        </p:spPr>
      </p:pic>
      <p:pic>
        <p:nvPicPr>
          <p:cNvPr id="79" name="Google Shape;70;p9" descr="Google Shape;70;p9"/>
          <p:cNvPicPr>
            <a:picLocks noChangeAspect="1"/>
          </p:cNvPicPr>
          <p:nvPr/>
        </p:nvPicPr>
        <p:blipFill>
          <a:blip r:embed="rId3"/>
          <a:stretch>
            <a:fillRect/>
          </a:stretch>
        </p:blipFill>
        <p:spPr>
          <a:xfrm>
            <a:off x="8765222" y="6187440"/>
            <a:ext cx="3426779" cy="500714"/>
          </a:xfrm>
          <a:prstGeom prst="rect">
            <a:avLst/>
          </a:prstGeom>
          <a:ln w="12700">
            <a:miter lim="400000"/>
          </a:ln>
        </p:spPr>
      </p:pic>
      <p:sp>
        <p:nvSpPr>
          <p:cNvPr id="6" name="TextBox 5">
            <a:extLst>
              <a:ext uri="{FF2B5EF4-FFF2-40B4-BE49-F238E27FC236}">
                <a16:creationId xmlns:a16="http://schemas.microsoft.com/office/drawing/2014/main" id="{BD8DB939-C1FA-6D14-D694-B311D0A4D5B6}"/>
              </a:ext>
            </a:extLst>
          </p:cNvPr>
          <p:cNvSpPr txBox="1"/>
          <p:nvPr/>
        </p:nvSpPr>
        <p:spPr>
          <a:xfrm>
            <a:off x="308114" y="1373843"/>
            <a:ext cx="8328992" cy="49552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571500" indent="-45720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 Introduction </a:t>
            </a:r>
          </a:p>
          <a:p>
            <a:pPr marL="571500" indent="-45720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 Problem Statement</a:t>
            </a:r>
          </a:p>
          <a:p>
            <a:pPr marL="628650" indent="-514350" algn="just">
              <a:buClr>
                <a:srgbClr val="000000"/>
              </a:buClr>
              <a:buSzPts val="3300"/>
              <a:buFont typeface="Arial" panose="020B0604020202020204" pitchFamily="34" charset="0"/>
              <a:buChar char="•"/>
              <a:defRPr sz="3300" b="0">
                <a:latin typeface="Times Roman"/>
                <a:ea typeface="Times Roman"/>
                <a:cs typeface="Times Roman"/>
                <a:sym typeface="Times Roman"/>
              </a:defRPr>
            </a:pPr>
            <a:r>
              <a:rPr lang="en-US" sz="2800" dirty="0">
                <a:latin typeface="Times New Roman" panose="02020603050405020304" pitchFamily="18" charset="0"/>
                <a:cs typeface="Times New Roman" panose="02020603050405020304" pitchFamily="18" charset="0"/>
              </a:rPr>
              <a:t>Challenges &amp; Solutions</a:t>
            </a:r>
          </a:p>
          <a:p>
            <a:pPr marL="628650" indent="-514350" algn="just">
              <a:buClr>
                <a:srgbClr val="000000"/>
              </a:buClr>
              <a:buSzPts val="3300"/>
              <a:buFont typeface="Arial" panose="020B0604020202020204" pitchFamily="34" charset="0"/>
              <a:buChar char="•"/>
              <a:defRPr sz="3300" b="0">
                <a:latin typeface="Times Roman"/>
                <a:ea typeface="Times Roman"/>
                <a:cs typeface="Times Roman"/>
                <a:sym typeface="Times Roman"/>
              </a:defRPr>
            </a:pPr>
            <a:r>
              <a:rPr lang="en-US" sz="2800" dirty="0">
                <a:latin typeface="Times New Roman" panose="02020603050405020304" pitchFamily="18" charset="0"/>
                <a:cs typeface="Times New Roman" panose="02020603050405020304" pitchFamily="18" charset="0"/>
              </a:rPr>
              <a:t>Feasibility Study </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Technology Stack</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3-D Model</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Hardware Components</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Connection Diagram</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sym typeface="Calibri"/>
              </a:rPr>
              <a:t>Budget</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Conclusion</a:t>
            </a:r>
          </a:p>
          <a:p>
            <a:pPr marL="628650" indent="-514350" algn="just">
              <a:buClr>
                <a:srgbClr val="000000"/>
              </a:buClr>
              <a:buSzPts val="3300"/>
              <a:buFont typeface="Arial" panose="020B0604020202020204" pitchFamily="34" charset="0"/>
              <a:buChar char="•"/>
              <a:defRPr sz="3300" b="0">
                <a:latin typeface="Times New Roman"/>
                <a:ea typeface="Times New Roman"/>
                <a:cs typeface="Times New Roman"/>
                <a:sym typeface="Times New Roman"/>
              </a:defRPr>
            </a:pPr>
            <a:r>
              <a:rPr lang="en-US" sz="2800" dirty="0">
                <a:latin typeface="Times New Roman" panose="02020603050405020304" pitchFamily="18" charset="0"/>
                <a:cs typeface="Times New Roman" panose="02020603050405020304" pitchFamily="18" charset="0"/>
              </a:rPr>
              <a:t>References </a:t>
            </a: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Google Shape;77;p10"/>
          <p:cNvSpPr txBox="1">
            <a:spLocks noGrp="1"/>
          </p:cNvSpPr>
          <p:nvPr>
            <p:ph type="title"/>
          </p:nvPr>
        </p:nvSpPr>
        <p:spPr>
          <a:xfrm>
            <a:off x="722959" y="161006"/>
            <a:ext cx="10515601" cy="1325563"/>
          </a:xfrm>
          <a:prstGeom prst="rect">
            <a:avLst/>
          </a:prstGeom>
        </p:spPr>
        <p:txBody>
          <a:bodyPr/>
          <a:lstStyle>
            <a:lvl1pPr>
              <a:defRPr sz="4500" b="1">
                <a:latin typeface="Times New Roman"/>
                <a:ea typeface="Times New Roman"/>
                <a:cs typeface="Times New Roman"/>
                <a:sym typeface="Times New Roman"/>
              </a:defRPr>
            </a:lvl1pPr>
          </a:lstStyle>
          <a:p>
            <a:r>
              <a:rPr dirty="0"/>
              <a:t> Introduction</a:t>
            </a:r>
          </a:p>
        </p:txBody>
      </p:sp>
      <p:pic>
        <p:nvPicPr>
          <p:cNvPr id="83" name="Google Shape;78;p10" descr="Google Shape;78;p10"/>
          <p:cNvPicPr>
            <a:picLocks noChangeAspect="1"/>
          </p:cNvPicPr>
          <p:nvPr/>
        </p:nvPicPr>
        <p:blipFill>
          <a:blip r:embed="rId2"/>
          <a:srcRect l="10536" t="16196" r="7963" b="26712"/>
          <a:stretch>
            <a:fillRect/>
          </a:stretch>
        </p:blipFill>
        <p:spPr>
          <a:xfrm>
            <a:off x="9113519" y="73352"/>
            <a:ext cx="2895601" cy="1158241"/>
          </a:xfrm>
          <a:prstGeom prst="rect">
            <a:avLst/>
          </a:prstGeom>
          <a:ln w="12700">
            <a:miter lim="400000"/>
          </a:ln>
        </p:spPr>
      </p:pic>
      <p:pic>
        <p:nvPicPr>
          <p:cNvPr id="84" name="Google Shape;79;p10" descr="Google Shape;79;p10"/>
          <p:cNvPicPr>
            <a:picLocks noChangeAspect="1"/>
          </p:cNvPicPr>
          <p:nvPr/>
        </p:nvPicPr>
        <p:blipFill>
          <a:blip r:embed="rId3"/>
          <a:stretch>
            <a:fillRect/>
          </a:stretch>
        </p:blipFill>
        <p:spPr>
          <a:xfrm>
            <a:off x="8765222" y="6187440"/>
            <a:ext cx="3426779" cy="500714"/>
          </a:xfrm>
          <a:prstGeom prst="rect">
            <a:avLst/>
          </a:prstGeom>
          <a:ln w="12700">
            <a:miter lim="400000"/>
          </a:ln>
        </p:spPr>
      </p:pic>
      <p:pic>
        <p:nvPicPr>
          <p:cNvPr id="86" name="Picture 2" descr="Picture 2"/>
          <p:cNvPicPr>
            <a:picLocks noChangeAspect="1"/>
          </p:cNvPicPr>
          <p:nvPr/>
        </p:nvPicPr>
        <p:blipFill>
          <a:blip r:embed="rId4"/>
          <a:stretch>
            <a:fillRect/>
          </a:stretch>
        </p:blipFill>
        <p:spPr>
          <a:xfrm>
            <a:off x="8070243" y="1736785"/>
            <a:ext cx="3716009" cy="3965824"/>
          </a:xfrm>
          <a:prstGeom prst="rect">
            <a:avLst/>
          </a:prstGeom>
          <a:ln w="38100" cap="sq">
            <a:solidFill>
              <a:srgbClr val="000000"/>
            </a:solidFill>
            <a:miter/>
          </a:ln>
          <a:effectLst>
            <a:outerShdw blurRad="50800" dist="38100" dir="2700000" rotWithShape="0">
              <a:srgbClr val="000000">
                <a:alpha val="43000"/>
              </a:srgbClr>
            </a:outerShdw>
          </a:effectLst>
        </p:spPr>
      </p:pic>
      <p:sp>
        <p:nvSpPr>
          <p:cNvPr id="87" name="TextBox 1"/>
          <p:cNvSpPr txBox="1"/>
          <p:nvPr/>
        </p:nvSpPr>
        <p:spPr>
          <a:xfrm>
            <a:off x="8569767" y="5838468"/>
            <a:ext cx="3393633"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1 : Bluetooth NERF Gun</a:t>
            </a:r>
          </a:p>
        </p:txBody>
      </p:sp>
      <p:sp>
        <p:nvSpPr>
          <p:cNvPr id="3" name="Text Placeholder 2">
            <a:extLst>
              <a:ext uri="{FF2B5EF4-FFF2-40B4-BE49-F238E27FC236}">
                <a16:creationId xmlns:a16="http://schemas.microsoft.com/office/drawing/2014/main" id="{3343D70C-1BB8-AB33-DBC2-1064A4ACFC9C}"/>
              </a:ext>
            </a:extLst>
          </p:cNvPr>
          <p:cNvSpPr>
            <a:spLocks noGrp="1" noChangeArrowheads="1"/>
          </p:cNvSpPr>
          <p:nvPr>
            <p:ph type="body" sz="half" idx="1"/>
          </p:nvPr>
        </p:nvSpPr>
        <p:spPr bwMode="auto">
          <a:xfrm>
            <a:off x="228600" y="1786235"/>
            <a:ext cx="726329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2000" b="0" dirty="0">
                <a:solidFill>
                  <a:schemeClr val="tx1"/>
                </a:solidFill>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ntegrate IoT and robotic into a Nerf gun platform.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Utilizes an Arduino Nano R3 as the main control unit.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tilt and pan system driven by MG90s servo motors enables precise aiming.</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Equipped with two 130 DC motors to power the dart launching mechanism.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wireless control via the HC-05 Bluetooth module, allowing remote operation.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Powered by a 12V 2.5A adapter to ensure reliable and stable performance.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for interactive use and experimentation in embedded systems and robotics.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a compact, modular structure for ease of modification and upgrades.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Google Shape;86;p11"/>
          <p:cNvSpPr txBox="1">
            <a:spLocks noGrp="1"/>
          </p:cNvSpPr>
          <p:nvPr>
            <p:ph type="title"/>
          </p:nvPr>
        </p:nvSpPr>
        <p:spPr>
          <a:xfrm>
            <a:off x="-12" y="156150"/>
            <a:ext cx="10515601" cy="1325700"/>
          </a:xfrm>
          <a:prstGeom prst="rect">
            <a:avLst/>
          </a:prstGeom>
        </p:spPr>
        <p:txBody>
          <a:bodyPr/>
          <a:lstStyle>
            <a:lvl1pPr indent="457200" algn="just">
              <a:spcBef>
                <a:spcPts val="1000"/>
              </a:spcBef>
              <a:defRPr sz="4500" b="1">
                <a:latin typeface="Times New Roman"/>
                <a:ea typeface="Times New Roman"/>
                <a:cs typeface="Times New Roman"/>
                <a:sym typeface="Times New Roman"/>
              </a:defRPr>
            </a:lvl1pPr>
          </a:lstStyle>
          <a:p>
            <a:r>
              <a:rPr dirty="0"/>
              <a:t>Problem Statement</a:t>
            </a:r>
          </a:p>
        </p:txBody>
      </p:sp>
      <p:pic>
        <p:nvPicPr>
          <p:cNvPr id="91" name="Picture 4" descr="Picture 4"/>
          <p:cNvPicPr>
            <a:picLocks noChangeAspect="1"/>
          </p:cNvPicPr>
          <p:nvPr/>
        </p:nvPicPr>
        <p:blipFill>
          <a:blip r:embed="rId2"/>
          <a:stretch>
            <a:fillRect/>
          </a:stretch>
        </p:blipFill>
        <p:spPr>
          <a:xfrm>
            <a:off x="4927120" y="3659039"/>
            <a:ext cx="3785560" cy="2623869"/>
          </a:xfrm>
          <a:prstGeom prst="rect">
            <a:avLst/>
          </a:prstGeom>
          <a:ln w="38100" cap="sq">
            <a:solidFill>
              <a:srgbClr val="000000"/>
            </a:solidFill>
            <a:miter/>
          </a:ln>
          <a:effectLst>
            <a:outerShdw blurRad="50800" dist="38100" dir="2700000" rotWithShape="0">
              <a:srgbClr val="000000">
                <a:alpha val="43000"/>
              </a:srgbClr>
            </a:outerShdw>
          </a:effectLst>
        </p:spPr>
      </p:pic>
      <p:sp>
        <p:nvSpPr>
          <p:cNvPr id="92" name="TextBox 1"/>
          <p:cNvSpPr txBox="1"/>
          <p:nvPr/>
        </p:nvSpPr>
        <p:spPr>
          <a:xfrm>
            <a:off x="5746053" y="6382570"/>
            <a:ext cx="3393633"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2 : NERF Gun</a:t>
            </a:r>
          </a:p>
        </p:txBody>
      </p:sp>
      <p:sp>
        <p:nvSpPr>
          <p:cNvPr id="3" name="Text Placeholder 2">
            <a:extLst>
              <a:ext uri="{FF2B5EF4-FFF2-40B4-BE49-F238E27FC236}">
                <a16:creationId xmlns:a16="http://schemas.microsoft.com/office/drawing/2014/main" id="{51296A2F-62AC-E0A5-C94F-5E0FD5E78D32}"/>
              </a:ext>
            </a:extLst>
          </p:cNvPr>
          <p:cNvSpPr>
            <a:spLocks noGrp="1" noChangeArrowheads="1"/>
          </p:cNvSpPr>
          <p:nvPr>
            <p:ph type="body" idx="1"/>
          </p:nvPr>
        </p:nvSpPr>
        <p:spPr bwMode="auto">
          <a:xfrm>
            <a:off x="271483" y="1708108"/>
            <a:ext cx="1024410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Conventional Nerf guns lack advanced features such as remote or automated control.</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offer minimal support for interactive or dynamic gameplay.</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upgrades the traditional setup by integrating automation and Bluetooth-based remote control</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user engagement through smarter, more responsive operation.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Bridges the gap between basic toy design and modern IoT-enabled robotics applications.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Google Shape;107;p14"/>
          <p:cNvSpPr txBox="1">
            <a:spLocks noGrp="1"/>
          </p:cNvSpPr>
          <p:nvPr>
            <p:ph type="title"/>
          </p:nvPr>
        </p:nvSpPr>
        <p:spPr>
          <a:xfrm>
            <a:off x="308912" y="146524"/>
            <a:ext cx="10515601" cy="1325701"/>
          </a:xfrm>
          <a:prstGeom prst="rect">
            <a:avLst/>
          </a:prstGeom>
        </p:spPr>
        <p:txBody>
          <a:bodyPr/>
          <a:lstStyle>
            <a:lvl1pPr>
              <a:defRPr sz="4500" b="1"/>
            </a:lvl1pPr>
          </a:lstStyle>
          <a:p>
            <a:r>
              <a:rPr dirty="0"/>
              <a:t>Challenges &amp; Solutions</a:t>
            </a:r>
          </a:p>
        </p:txBody>
      </p:sp>
      <p:pic>
        <p:nvPicPr>
          <p:cNvPr id="96" name="Picture 2" descr="Picture 2"/>
          <p:cNvPicPr>
            <a:picLocks noChangeAspect="1"/>
          </p:cNvPicPr>
          <p:nvPr/>
        </p:nvPicPr>
        <p:blipFill>
          <a:blip r:embed="rId2"/>
          <a:stretch>
            <a:fillRect/>
          </a:stretch>
        </p:blipFill>
        <p:spPr>
          <a:xfrm>
            <a:off x="3418005" y="3840524"/>
            <a:ext cx="4297413" cy="2492593"/>
          </a:xfrm>
          <a:prstGeom prst="rect">
            <a:avLst/>
          </a:prstGeom>
          <a:ln w="38100" cap="sq">
            <a:solidFill>
              <a:srgbClr val="000000"/>
            </a:solidFill>
            <a:miter/>
          </a:ln>
          <a:effectLst>
            <a:outerShdw blurRad="50800" dist="38100" dir="2700000" rotWithShape="0">
              <a:srgbClr val="000000">
                <a:alpha val="43000"/>
              </a:srgbClr>
            </a:outerShdw>
          </a:effectLst>
        </p:spPr>
      </p:pic>
      <p:sp>
        <p:nvSpPr>
          <p:cNvPr id="97" name="TextBox 1"/>
          <p:cNvSpPr txBox="1"/>
          <p:nvPr/>
        </p:nvSpPr>
        <p:spPr>
          <a:xfrm>
            <a:off x="4180647" y="6354953"/>
            <a:ext cx="3393633"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3 : Power </a:t>
            </a:r>
            <a:r>
              <a:rPr dirty="0" err="1"/>
              <a:t>Managment</a:t>
            </a:r>
            <a:endParaRPr dirty="0"/>
          </a:p>
        </p:txBody>
      </p:sp>
      <p:sp>
        <p:nvSpPr>
          <p:cNvPr id="2" name="Text Placeholder 1">
            <a:extLst>
              <a:ext uri="{FF2B5EF4-FFF2-40B4-BE49-F238E27FC236}">
                <a16:creationId xmlns:a16="http://schemas.microsoft.com/office/drawing/2014/main" id="{3299A48D-70DC-9E3B-499B-D8A38366DDD0}"/>
              </a:ext>
            </a:extLst>
          </p:cNvPr>
          <p:cNvSpPr>
            <a:spLocks noGrp="1" noChangeArrowheads="1"/>
          </p:cNvSpPr>
          <p:nvPr>
            <p:ph type="body" idx="1"/>
          </p:nvPr>
        </p:nvSpPr>
        <p:spPr bwMode="auto">
          <a:xfrm>
            <a:off x="308912" y="1272986"/>
            <a:ext cx="10515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Delay: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Bluetooth responsiveness by configuring appropriate baud rates for efficient data transmission.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Efficiency: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 separate and stable power source for the motors to prevent voltage drops and ensure consistent performance.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Mechanical Precision: Perform careful calibration of the tilt and pan mechanism to achieve accurate and smooth turret movements.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optimizations collectively enhance system reliability, responsiveness, and mechanical accuracy during remote operation.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Google Shape;93;p12"/>
          <p:cNvSpPr txBox="1">
            <a:spLocks noGrp="1"/>
          </p:cNvSpPr>
          <p:nvPr>
            <p:ph type="title"/>
          </p:nvPr>
        </p:nvSpPr>
        <p:spPr>
          <a:xfrm>
            <a:off x="511887" y="130900"/>
            <a:ext cx="10515601" cy="1325700"/>
          </a:xfrm>
          <a:prstGeom prst="rect">
            <a:avLst/>
          </a:prstGeom>
        </p:spPr>
        <p:txBody>
          <a:bodyPr/>
          <a:lstStyle>
            <a:lvl1pPr>
              <a:defRPr sz="4500" b="1">
                <a:latin typeface="Times New Roman"/>
                <a:ea typeface="Times New Roman"/>
                <a:cs typeface="Times New Roman"/>
                <a:sym typeface="Times New Roman"/>
              </a:defRPr>
            </a:lvl1pPr>
          </a:lstStyle>
          <a:p>
            <a:r>
              <a:rPr dirty="0"/>
              <a:t>Feasibility Study</a:t>
            </a:r>
          </a:p>
        </p:txBody>
      </p:sp>
      <p:sp>
        <p:nvSpPr>
          <p:cNvPr id="9" name="Text Placeholder 8">
            <a:extLst>
              <a:ext uri="{FF2B5EF4-FFF2-40B4-BE49-F238E27FC236}">
                <a16:creationId xmlns:a16="http://schemas.microsoft.com/office/drawing/2014/main" id="{431B7859-C50A-4E55-D13C-F3AABCC07D6B}"/>
              </a:ext>
            </a:extLst>
          </p:cNvPr>
          <p:cNvSpPr>
            <a:spLocks noGrp="1"/>
          </p:cNvSpPr>
          <p:nvPr>
            <p:ph type="body" sz="quarter" idx="1"/>
          </p:nvPr>
        </p:nvSpPr>
        <p:spPr>
          <a:xfrm>
            <a:off x="426720" y="1689464"/>
            <a:ext cx="10302240" cy="4143102"/>
          </a:xfrm>
        </p:spPr>
        <p:txBody>
          <a:bodyPr>
            <a:normAutofit/>
          </a:bodyPr>
          <a:lstStyle/>
          <a:p>
            <a:pPr marL="571500" indent="-342900">
              <a:lnSpc>
                <a:spcPct val="100000"/>
              </a:lnSpc>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Technical Feasibility:</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The system uses compatible components such as the Arduino Nano, HC-05 Bluetooth module, DC motors, and MG90s servos, all easily integrated. Software development is supported by the Arduino IDE and widely available Bluetooth libraries.</a:t>
            </a:r>
          </a:p>
          <a:p>
            <a:pPr marL="571500" indent="-342900">
              <a:lnSpc>
                <a:spcPct val="100000"/>
              </a:lnSpc>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Operational Feasibility:</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Assembly is straightforward, requiring only basic tools like screws and rubber bands. The Bluetooth remote control ensures simple and intuitive operation.</a:t>
            </a:r>
          </a:p>
          <a:p>
            <a:pPr marL="571500" indent="-342900">
              <a:lnSpc>
                <a:spcPct val="100000"/>
              </a:lnSpc>
              <a:buFont typeface="Arial" panose="020B0604020202020204" pitchFamily="34" charset="0"/>
              <a:buChar char="•"/>
            </a:pPr>
            <a:r>
              <a:rPr lang="en-US" b="0" dirty="0">
                <a:latin typeface="Times New Roman" panose="02020603050405020304" pitchFamily="18" charset="0"/>
                <a:cs typeface="Times New Roman" panose="02020603050405020304" pitchFamily="18" charset="0"/>
              </a:rPr>
              <a:t>Economic Feasibility:</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The project remains cost-effective, with affordable components. Additionally, a Li-ion battery pack can be used as an alternative power source, offering improved energy efficiency.</a:t>
            </a:r>
          </a:p>
          <a:p>
            <a:pPr marL="571500" indent="-342900">
              <a:lnSpc>
                <a:spcPct val="100000"/>
              </a:lnSpc>
              <a:buFont typeface="Arial" panose="020B0604020202020204" pitchFamily="34" charset="0"/>
              <a:buChar char="•"/>
            </a:pPr>
            <a:endParaRPr lang="en-IN" sz="2000" b="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100;p13"/>
          <p:cNvSpPr txBox="1">
            <a:spLocks noGrp="1"/>
          </p:cNvSpPr>
          <p:nvPr>
            <p:ph type="title"/>
          </p:nvPr>
        </p:nvSpPr>
        <p:spPr>
          <a:xfrm>
            <a:off x="386928" y="136138"/>
            <a:ext cx="10515601" cy="1325700"/>
          </a:xfrm>
          <a:prstGeom prst="rect">
            <a:avLst/>
          </a:prstGeom>
        </p:spPr>
        <p:txBody>
          <a:bodyPr/>
          <a:lstStyle>
            <a:lvl1pPr algn="just">
              <a:spcBef>
                <a:spcPts val="1000"/>
              </a:spcBef>
              <a:defRPr sz="4500" b="1">
                <a:latin typeface="Times New Roman"/>
                <a:ea typeface="Times New Roman"/>
                <a:cs typeface="Times New Roman"/>
                <a:sym typeface="Times New Roman"/>
              </a:defRPr>
            </a:lvl1pPr>
          </a:lstStyle>
          <a:p>
            <a:r>
              <a:rPr dirty="0"/>
              <a:t>Technology Stack</a:t>
            </a:r>
            <a:endParaRPr sz="4000" dirty="0">
              <a:latin typeface="Calibri"/>
              <a:ea typeface="Calibri"/>
              <a:cs typeface="Calibri"/>
              <a:sym typeface="Calibri"/>
            </a:endParaRPr>
          </a:p>
        </p:txBody>
      </p:sp>
      <p:sp>
        <p:nvSpPr>
          <p:cNvPr id="103" name="Google Shape;101;p13"/>
          <p:cNvSpPr txBox="1">
            <a:spLocks noGrp="1"/>
          </p:cNvSpPr>
          <p:nvPr>
            <p:ph type="body" idx="1"/>
          </p:nvPr>
        </p:nvSpPr>
        <p:spPr>
          <a:xfrm>
            <a:off x="745587" y="1646929"/>
            <a:ext cx="9153602" cy="4320900"/>
          </a:xfrm>
          <a:prstGeom prst="rect">
            <a:avLst/>
          </a:prstGeom>
        </p:spPr>
        <p:txBody>
          <a:bodyPr anchor="t">
            <a:normAutofit lnSpcReduction="10000"/>
          </a:bodyPr>
          <a:lstStyle/>
          <a:p>
            <a:pPr marL="0" defTabSz="868680">
              <a:lnSpc>
                <a:spcPct val="115000"/>
              </a:lnSpc>
              <a:spcBef>
                <a:spcPts val="1100"/>
              </a:spcBef>
              <a:defRPr sz="1804">
                <a:latin typeface="+mn-lt"/>
                <a:ea typeface="+mn-ea"/>
                <a:cs typeface="+mn-cs"/>
                <a:sym typeface="Arial"/>
              </a:defRPr>
            </a:pPr>
            <a:r>
              <a:rPr dirty="0"/>
              <a:t>Hardware Components</a:t>
            </a:r>
          </a:p>
          <a:p>
            <a:pPr marL="434340" indent="-331787" defTabSz="868680">
              <a:lnSpc>
                <a:spcPct val="115000"/>
              </a:lnSpc>
              <a:spcBef>
                <a:spcPts val="1100"/>
              </a:spcBef>
              <a:buClr>
                <a:srgbClr val="000000"/>
              </a:buClr>
              <a:buSzPts val="1800"/>
              <a:buFont typeface="Arial"/>
              <a:buChar char="●"/>
              <a:defRPr sz="1804">
                <a:latin typeface="+mn-lt"/>
                <a:ea typeface="+mn-ea"/>
                <a:cs typeface="+mn-cs"/>
                <a:sym typeface="Arial"/>
              </a:defRPr>
            </a:pPr>
            <a:r>
              <a:rPr dirty="0"/>
              <a:t>Arduino Nano R3</a:t>
            </a:r>
            <a:r>
              <a:rPr b="0" dirty="0"/>
              <a:t> (main controller)</a:t>
            </a:r>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MG-90s servos</a:t>
            </a:r>
            <a:r>
              <a:rPr b="0" dirty="0"/>
              <a:t> (tilt &amp; pan)</a:t>
            </a:r>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130 DC motors</a:t>
            </a:r>
            <a:r>
              <a:rPr b="0" dirty="0"/>
              <a:t> (dart firing)</a:t>
            </a:r>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HC-05 Bluetooth module</a:t>
            </a:r>
            <a:r>
              <a:rPr b="0" dirty="0"/>
              <a:t> (wireless control)</a:t>
            </a:r>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LM2596 buck converter</a:t>
            </a:r>
            <a:r>
              <a:rPr b="0" dirty="0"/>
              <a:t> (power regulation)</a:t>
            </a:r>
          </a:p>
          <a:p>
            <a:pPr marL="434340" indent="-331787" defTabSz="868680">
              <a:lnSpc>
                <a:spcPct val="115000"/>
              </a:lnSpc>
              <a:spcBef>
                <a:spcPts val="0"/>
              </a:spcBef>
              <a:buClr>
                <a:srgbClr val="000000"/>
              </a:buClr>
              <a:buSzPts val="1800"/>
              <a:buFont typeface="Arial"/>
              <a:buChar char="●"/>
              <a:defRPr sz="1804" b="0">
                <a:latin typeface="+mn-lt"/>
                <a:ea typeface="+mn-ea"/>
                <a:cs typeface="+mn-cs"/>
                <a:sym typeface="Arial"/>
              </a:defRPr>
            </a:pPr>
            <a:r>
              <a:rPr dirty="0"/>
              <a:t>Various </a:t>
            </a:r>
            <a:r>
              <a:rPr b="1" dirty="0"/>
              <a:t>wiring components</a:t>
            </a:r>
          </a:p>
          <a:p>
            <a:pPr marL="0" defTabSz="868680">
              <a:lnSpc>
                <a:spcPct val="115000"/>
              </a:lnSpc>
              <a:spcBef>
                <a:spcPts val="1100"/>
              </a:spcBef>
              <a:defRPr sz="1804">
                <a:latin typeface="+mn-lt"/>
                <a:ea typeface="+mn-ea"/>
                <a:cs typeface="+mn-cs"/>
                <a:sym typeface="Arial"/>
              </a:defRPr>
            </a:pPr>
            <a:endParaRPr b="1" dirty="0"/>
          </a:p>
          <a:p>
            <a:pPr marL="0" defTabSz="868680">
              <a:lnSpc>
                <a:spcPct val="115000"/>
              </a:lnSpc>
              <a:spcBef>
                <a:spcPts val="1100"/>
              </a:spcBef>
              <a:defRPr sz="1804">
                <a:latin typeface="+mn-lt"/>
                <a:ea typeface="+mn-ea"/>
                <a:cs typeface="+mn-cs"/>
                <a:sym typeface="Arial"/>
              </a:defRPr>
            </a:pPr>
            <a:r>
              <a:rPr dirty="0"/>
              <a:t>Software Used</a:t>
            </a:r>
          </a:p>
          <a:p>
            <a:pPr marL="434340" indent="-331787" defTabSz="868680">
              <a:lnSpc>
                <a:spcPct val="115000"/>
              </a:lnSpc>
              <a:spcBef>
                <a:spcPts val="1100"/>
              </a:spcBef>
              <a:buClr>
                <a:srgbClr val="000000"/>
              </a:buClr>
              <a:buSzPts val="1800"/>
              <a:buFont typeface="Arial"/>
              <a:buChar char="●"/>
              <a:defRPr sz="1804">
                <a:latin typeface="+mn-lt"/>
                <a:ea typeface="+mn-ea"/>
                <a:cs typeface="+mn-cs"/>
                <a:sym typeface="Arial"/>
              </a:defRPr>
            </a:pPr>
            <a:r>
              <a:rPr dirty="0"/>
              <a:t>Arduino IDE</a:t>
            </a:r>
            <a:r>
              <a:rPr b="0" dirty="0"/>
              <a:t> (code development)</a:t>
            </a:r>
            <a:r>
              <a:rPr lang="en-US" b="0" dirty="0"/>
              <a:t>[11]</a:t>
            </a:r>
            <a:endParaRPr b="0" dirty="0"/>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Android App</a:t>
            </a:r>
            <a:r>
              <a:rPr b="0" dirty="0"/>
              <a:t> (remote control interface)</a:t>
            </a:r>
            <a:r>
              <a:rPr lang="en-US" b="0" dirty="0"/>
              <a:t>[10]</a:t>
            </a:r>
            <a:endParaRPr b="0" dirty="0"/>
          </a:p>
          <a:p>
            <a:pPr marL="434340" indent="-331787" defTabSz="868680">
              <a:lnSpc>
                <a:spcPct val="115000"/>
              </a:lnSpc>
              <a:spcBef>
                <a:spcPts val="0"/>
              </a:spcBef>
              <a:buClr>
                <a:srgbClr val="000000"/>
              </a:buClr>
              <a:buSzPts val="1800"/>
              <a:buFont typeface="Arial"/>
              <a:buChar char="●"/>
              <a:defRPr sz="1804">
                <a:latin typeface="+mn-lt"/>
                <a:ea typeface="+mn-ea"/>
                <a:cs typeface="+mn-cs"/>
                <a:sym typeface="Arial"/>
              </a:defRPr>
            </a:pPr>
            <a:r>
              <a:rPr dirty="0"/>
              <a:t>Python &amp; UI files repository</a:t>
            </a:r>
            <a:r>
              <a:rPr b="0" dirty="0"/>
              <a:t> (for additional functionalities)</a:t>
            </a:r>
          </a:p>
        </p:txBody>
      </p:sp>
      <p:pic>
        <p:nvPicPr>
          <p:cNvPr id="104" name="Picture 2" descr="Picture 2"/>
          <p:cNvPicPr>
            <a:picLocks noChangeAspect="1"/>
          </p:cNvPicPr>
          <p:nvPr/>
        </p:nvPicPr>
        <p:blipFill>
          <a:blip r:embed="rId2"/>
          <a:stretch>
            <a:fillRect/>
          </a:stretch>
        </p:blipFill>
        <p:spPr>
          <a:xfrm>
            <a:off x="7165675" y="1295400"/>
            <a:ext cx="2133601" cy="2133600"/>
          </a:xfrm>
          <a:prstGeom prst="rect">
            <a:avLst/>
          </a:prstGeom>
          <a:ln w="38100" cap="sq">
            <a:solidFill>
              <a:srgbClr val="000000"/>
            </a:solidFill>
            <a:miter/>
          </a:ln>
          <a:effectLst>
            <a:outerShdw blurRad="50800" dist="38100" dir="2700000" rotWithShape="0">
              <a:srgbClr val="000000">
                <a:alpha val="43000"/>
              </a:srgbClr>
            </a:outerShdw>
          </a:effectLst>
        </p:spPr>
      </p:pic>
      <p:pic>
        <p:nvPicPr>
          <p:cNvPr id="105" name="Picture 4" descr="Picture 4"/>
          <p:cNvPicPr>
            <a:picLocks noChangeAspect="1"/>
          </p:cNvPicPr>
          <p:nvPr/>
        </p:nvPicPr>
        <p:blipFill>
          <a:blip r:embed="rId3"/>
          <a:stretch>
            <a:fillRect/>
          </a:stretch>
        </p:blipFill>
        <p:spPr>
          <a:xfrm>
            <a:off x="7818408" y="3915886"/>
            <a:ext cx="2133601" cy="2143126"/>
          </a:xfrm>
          <a:prstGeom prst="rect">
            <a:avLst/>
          </a:prstGeom>
          <a:ln w="38100" cap="sq">
            <a:solidFill>
              <a:srgbClr val="000000"/>
            </a:solidFill>
            <a:miter/>
          </a:ln>
          <a:effectLst>
            <a:outerShdw blurRad="50800" dist="38100" dir="2700000" rotWithShape="0">
              <a:srgbClr val="000000">
                <a:alpha val="43000"/>
              </a:srgbClr>
            </a:outerShdw>
          </a:effectLst>
        </p:spPr>
      </p:pic>
      <p:sp>
        <p:nvSpPr>
          <p:cNvPr id="106" name="TextBox 5"/>
          <p:cNvSpPr txBox="1"/>
          <p:nvPr/>
        </p:nvSpPr>
        <p:spPr>
          <a:xfrm>
            <a:off x="7280407" y="3518554"/>
            <a:ext cx="223194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a:t>
            </a:r>
            <a:r>
              <a:rPr lang="en-IN" dirty="0"/>
              <a:t>4</a:t>
            </a:r>
            <a:r>
              <a:rPr dirty="0"/>
              <a:t>: MG-90s servo </a:t>
            </a:r>
          </a:p>
        </p:txBody>
      </p:sp>
      <p:sp>
        <p:nvSpPr>
          <p:cNvPr id="107" name="TextBox 6"/>
          <p:cNvSpPr txBox="1"/>
          <p:nvPr/>
        </p:nvSpPr>
        <p:spPr>
          <a:xfrm>
            <a:off x="7905519" y="6059011"/>
            <a:ext cx="2042161"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5: D.C Motor</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title"/>
          </p:nvPr>
        </p:nvSpPr>
        <p:spPr>
          <a:xfrm>
            <a:off x="404358" y="373605"/>
            <a:ext cx="8724033" cy="882832"/>
          </a:xfrm>
          <a:prstGeom prst="rect">
            <a:avLst/>
          </a:prstGeom>
        </p:spPr>
        <p:txBody>
          <a:bodyPr>
            <a:normAutofit/>
          </a:bodyPr>
          <a:lstStyle/>
          <a:p>
            <a:r>
              <a:rPr sz="4500" b="1" dirty="0">
                <a:latin typeface="Times New Roman" panose="02020603050405020304" pitchFamily="18" charset="0"/>
                <a:cs typeface="Times New Roman" panose="02020603050405020304" pitchFamily="18" charset="0"/>
              </a:rPr>
              <a:t>3-D </a:t>
            </a:r>
            <a:r>
              <a:rPr lang="en-IN" sz="4500" b="1" dirty="0">
                <a:latin typeface="Times New Roman" panose="02020603050405020304" pitchFamily="18" charset="0"/>
                <a:cs typeface="Times New Roman" panose="02020603050405020304" pitchFamily="18" charset="0"/>
              </a:rPr>
              <a:t>M</a:t>
            </a:r>
            <a:r>
              <a:rPr sz="4500" b="1" dirty="0" err="1">
                <a:latin typeface="Times New Roman" panose="02020603050405020304" pitchFamily="18" charset="0"/>
                <a:cs typeface="Times New Roman" panose="02020603050405020304" pitchFamily="18" charset="0"/>
              </a:rPr>
              <a:t>odel</a:t>
            </a:r>
            <a:r>
              <a:rPr sz="4500" b="1" dirty="0">
                <a:latin typeface="Times New Roman" panose="02020603050405020304" pitchFamily="18" charset="0"/>
                <a:cs typeface="Times New Roman" panose="02020603050405020304" pitchFamily="18" charset="0"/>
              </a:rPr>
              <a:t> </a:t>
            </a:r>
          </a:p>
        </p:txBody>
      </p:sp>
      <p:sp>
        <p:nvSpPr>
          <p:cNvPr id="117" name="Text Placeholder 2"/>
          <p:cNvSpPr txBox="1">
            <a:spLocks noGrp="1"/>
          </p:cNvSpPr>
          <p:nvPr>
            <p:ph type="body" sz="quarter" idx="1"/>
          </p:nvPr>
        </p:nvSpPr>
        <p:spPr>
          <a:xfrm>
            <a:off x="839787" y="1681163"/>
            <a:ext cx="5157789" cy="823913"/>
          </a:xfrm>
          <a:prstGeom prst="rect">
            <a:avLst/>
          </a:prstGeom>
        </p:spPr>
        <p:txBody>
          <a:bodyPr/>
          <a:lstStyle/>
          <a:p>
            <a:endParaRPr/>
          </a:p>
        </p:txBody>
      </p:sp>
      <p:sp>
        <p:nvSpPr>
          <p:cNvPr id="118" name="Text Placeholder 3"/>
          <p:cNvSpPr txBox="1">
            <a:spLocks noGrp="1"/>
          </p:cNvSpPr>
          <p:nvPr>
            <p:ph type="body" idx="21"/>
          </p:nvPr>
        </p:nvSpPr>
        <p:spPr>
          <a:prstGeom prst="rect">
            <a:avLst/>
          </a:prstGeom>
        </p:spPr>
        <p:txBody>
          <a:bodyPr/>
          <a:lstStyle/>
          <a:p>
            <a:pPr indent="-342900">
              <a:buSzPts val="2800"/>
              <a:defRPr sz="2800"/>
            </a:pPr>
            <a:endParaRPr/>
          </a:p>
        </p:txBody>
      </p:sp>
      <p:sp>
        <p:nvSpPr>
          <p:cNvPr id="119" name="Text Placeholder 5"/>
          <p:cNvSpPr txBox="1">
            <a:spLocks noGrp="1"/>
          </p:cNvSpPr>
          <p:nvPr>
            <p:ph type="body" idx="23"/>
          </p:nvPr>
        </p:nvSpPr>
        <p:spPr>
          <a:xfrm>
            <a:off x="7867360" y="1511830"/>
            <a:ext cx="4212490" cy="497354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marL="342900" indent="-228600">
              <a:lnSpc>
                <a:spcPct val="72000"/>
              </a:lnSpc>
              <a:buSzTx/>
              <a:buNone/>
              <a:defRPr sz="1500" b="1"/>
            </a:pPr>
            <a:r>
              <a:rPr sz="1800" dirty="0"/>
              <a:t>3D Model Printing Overview</a:t>
            </a:r>
          </a:p>
          <a:p>
            <a:pPr marL="342900" indent="-228600">
              <a:lnSpc>
                <a:spcPct val="72000"/>
              </a:lnSpc>
              <a:buSzTx/>
              <a:buNone/>
              <a:defRPr sz="1500" b="1"/>
            </a:pPr>
            <a:r>
              <a:rPr sz="1800" dirty="0"/>
              <a:t>1. Process:</a:t>
            </a:r>
          </a:p>
          <a:p>
            <a:pPr indent="-342900">
              <a:lnSpc>
                <a:spcPct val="72000"/>
              </a:lnSpc>
              <a:buSzPts val="1500"/>
              <a:defRPr sz="1500" b="1"/>
            </a:pPr>
            <a:r>
              <a:rPr sz="1800" dirty="0"/>
              <a:t>Design</a:t>
            </a:r>
            <a:r>
              <a:rPr sz="1800" b="0" dirty="0"/>
              <a:t> a 3D model using software.</a:t>
            </a:r>
          </a:p>
          <a:p>
            <a:pPr indent="-342900">
              <a:lnSpc>
                <a:spcPct val="72000"/>
              </a:lnSpc>
              <a:buSzPts val="1500"/>
              <a:defRPr sz="1500" b="1"/>
            </a:pPr>
            <a:r>
              <a:rPr sz="1800" dirty="0"/>
              <a:t>Slice</a:t>
            </a:r>
            <a:r>
              <a:rPr sz="1800" b="0" dirty="0"/>
              <a:t> it into layers using slicing software.</a:t>
            </a:r>
          </a:p>
          <a:p>
            <a:pPr indent="-342900">
              <a:lnSpc>
                <a:spcPct val="72000"/>
              </a:lnSpc>
              <a:buSzPts val="1500"/>
              <a:defRPr sz="1500" b="1"/>
            </a:pPr>
            <a:r>
              <a:rPr sz="1800" dirty="0"/>
              <a:t>Print</a:t>
            </a:r>
            <a:r>
              <a:rPr sz="1800" b="0" dirty="0"/>
              <a:t> using a 3D printer.</a:t>
            </a:r>
          </a:p>
          <a:p>
            <a:pPr indent="-342900">
              <a:lnSpc>
                <a:spcPct val="72000"/>
              </a:lnSpc>
              <a:buSzPts val="1500"/>
              <a:defRPr sz="1500" b="1"/>
            </a:pPr>
            <a:r>
              <a:rPr sz="1800" dirty="0"/>
              <a:t>Post-process</a:t>
            </a:r>
            <a:r>
              <a:rPr sz="1800" b="0" dirty="0"/>
              <a:t> for finishing touches.</a:t>
            </a:r>
          </a:p>
          <a:p>
            <a:pPr marL="342900" indent="-228600">
              <a:lnSpc>
                <a:spcPct val="72000"/>
              </a:lnSpc>
              <a:buSzTx/>
              <a:buNone/>
              <a:defRPr sz="1500" b="1"/>
            </a:pPr>
            <a:r>
              <a:rPr sz="1800" dirty="0"/>
              <a:t>2. Common 3D Printing Technologies:</a:t>
            </a:r>
          </a:p>
          <a:p>
            <a:pPr indent="-342900">
              <a:lnSpc>
                <a:spcPct val="72000"/>
              </a:lnSpc>
              <a:buSzPts val="1500"/>
              <a:defRPr sz="1500" b="1"/>
            </a:pPr>
            <a:r>
              <a:rPr sz="1800" dirty="0"/>
              <a:t>FDM (Fused Deposition Modeling)</a:t>
            </a:r>
            <a:r>
              <a:rPr sz="1800" b="0" dirty="0"/>
              <a:t> – Uses melted plastic filaments.</a:t>
            </a:r>
          </a:p>
          <a:p>
            <a:pPr indent="-342900">
              <a:lnSpc>
                <a:spcPct val="72000"/>
              </a:lnSpc>
              <a:buSzPts val="1500"/>
              <a:defRPr sz="1500" b="1"/>
            </a:pPr>
            <a:r>
              <a:rPr sz="1800" dirty="0"/>
              <a:t>SLS (Selective Laser Sintering)</a:t>
            </a:r>
            <a:r>
              <a:rPr sz="1800" b="0" dirty="0"/>
              <a:t> – Uses powdered material fused by a laser.</a:t>
            </a:r>
          </a:p>
          <a:p>
            <a:pPr marL="342900" indent="-228600">
              <a:lnSpc>
                <a:spcPct val="72000"/>
              </a:lnSpc>
              <a:buSzTx/>
              <a:buNone/>
              <a:defRPr sz="1500" b="1"/>
            </a:pPr>
            <a:r>
              <a:rPr sz="1800" dirty="0"/>
              <a:t>3. Materials Used:</a:t>
            </a:r>
          </a:p>
          <a:p>
            <a:pPr indent="-342900">
              <a:lnSpc>
                <a:spcPct val="72000"/>
              </a:lnSpc>
              <a:buSzPts val="1500"/>
              <a:defRPr sz="1500" b="1"/>
            </a:pPr>
            <a:r>
              <a:rPr sz="1800" dirty="0"/>
              <a:t>Plastics</a:t>
            </a:r>
            <a:r>
              <a:rPr sz="1800" b="0" dirty="0"/>
              <a:t> (PLA, ABS, PETG)</a:t>
            </a:r>
          </a:p>
          <a:p>
            <a:pPr indent="-342900">
              <a:lnSpc>
                <a:spcPct val="72000"/>
              </a:lnSpc>
              <a:buSzPts val="1500"/>
              <a:defRPr sz="1500" b="1"/>
            </a:pPr>
            <a:r>
              <a:rPr sz="1800" dirty="0"/>
              <a:t>Resins</a:t>
            </a:r>
            <a:r>
              <a:rPr sz="1800" b="0" dirty="0"/>
              <a:t> (for SLA printing)</a:t>
            </a:r>
          </a:p>
        </p:txBody>
      </p:sp>
      <p:pic>
        <p:nvPicPr>
          <p:cNvPr id="120" name="Picture 7" descr="Picture 7"/>
          <p:cNvPicPr>
            <a:picLocks noChangeAspect="1"/>
          </p:cNvPicPr>
          <p:nvPr/>
        </p:nvPicPr>
        <p:blipFill>
          <a:blip r:embed="rId2"/>
          <a:stretch>
            <a:fillRect/>
          </a:stretch>
        </p:blipFill>
        <p:spPr>
          <a:xfrm rot="16200000">
            <a:off x="1652254" y="424818"/>
            <a:ext cx="4905947" cy="7079971"/>
          </a:xfrm>
          <a:prstGeom prst="rect">
            <a:avLst/>
          </a:prstGeom>
          <a:ln w="12700">
            <a:miter lim="400000"/>
          </a:ln>
        </p:spPr>
      </p:pic>
      <p:sp>
        <p:nvSpPr>
          <p:cNvPr id="121" name="TextBox 9"/>
          <p:cNvSpPr txBox="1"/>
          <p:nvPr/>
        </p:nvSpPr>
        <p:spPr>
          <a:xfrm>
            <a:off x="2893632" y="6411257"/>
            <a:ext cx="600554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6: 3-D model components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itle 1"/>
          <p:cNvSpPr txBox="1">
            <a:spLocks noGrp="1"/>
          </p:cNvSpPr>
          <p:nvPr>
            <p:ph type="title"/>
          </p:nvPr>
        </p:nvSpPr>
        <p:spPr>
          <a:xfrm>
            <a:off x="136721" y="405321"/>
            <a:ext cx="8723067" cy="823913"/>
          </a:xfrm>
          <a:prstGeom prst="rect">
            <a:avLst/>
          </a:prstGeom>
        </p:spPr>
        <p:txBody>
          <a:bodyPr>
            <a:normAutofit/>
          </a:bodyPr>
          <a:lstStyle/>
          <a:p>
            <a:r>
              <a:rPr lang="en-US" sz="4500" b="1" dirty="0"/>
              <a:t> </a:t>
            </a:r>
            <a:r>
              <a:rPr sz="4500" b="1" dirty="0"/>
              <a:t>Hardware Components</a:t>
            </a:r>
          </a:p>
        </p:txBody>
      </p:sp>
      <p:sp>
        <p:nvSpPr>
          <p:cNvPr id="124" name="Text Placeholder 2"/>
          <p:cNvSpPr txBox="1">
            <a:spLocks noGrp="1"/>
          </p:cNvSpPr>
          <p:nvPr>
            <p:ph type="body" sz="quarter" idx="1"/>
          </p:nvPr>
        </p:nvSpPr>
        <p:spPr>
          <a:xfrm>
            <a:off x="839787" y="1681163"/>
            <a:ext cx="5157789" cy="823913"/>
          </a:xfrm>
          <a:prstGeom prst="rect">
            <a:avLst/>
          </a:prstGeom>
        </p:spPr>
        <p:txBody>
          <a:bodyPr/>
          <a:lstStyle/>
          <a:p>
            <a:endParaRPr/>
          </a:p>
        </p:txBody>
      </p:sp>
      <p:sp>
        <p:nvSpPr>
          <p:cNvPr id="125" name="Text Placeholder 3"/>
          <p:cNvSpPr txBox="1">
            <a:spLocks noGrp="1"/>
          </p:cNvSpPr>
          <p:nvPr>
            <p:ph type="body" idx="21"/>
          </p:nvPr>
        </p:nvSpPr>
        <p:spPr>
          <a:prstGeom prst="rect">
            <a:avLst/>
          </a:prstGeom>
        </p:spPr>
        <p:txBody>
          <a:bodyPr/>
          <a:lstStyle/>
          <a:p>
            <a:pPr indent="-342900">
              <a:buSzPts val="2800"/>
              <a:defRPr sz="2800"/>
            </a:pPr>
            <a:endParaRPr/>
          </a:p>
        </p:txBody>
      </p:sp>
      <p:pic>
        <p:nvPicPr>
          <p:cNvPr id="127" name="Picture 7" descr="Picture 7"/>
          <p:cNvPicPr>
            <a:picLocks noChangeAspect="1"/>
          </p:cNvPicPr>
          <p:nvPr/>
        </p:nvPicPr>
        <p:blipFill>
          <a:blip r:embed="rId2"/>
          <a:stretch>
            <a:fillRect/>
          </a:stretch>
        </p:blipFill>
        <p:spPr>
          <a:xfrm rot="16200000">
            <a:off x="1441625" y="835326"/>
            <a:ext cx="4708189" cy="6277584"/>
          </a:xfrm>
          <a:prstGeom prst="rect">
            <a:avLst/>
          </a:prstGeom>
          <a:ln w="12700">
            <a:miter lim="400000"/>
          </a:ln>
        </p:spPr>
      </p:pic>
      <p:sp>
        <p:nvSpPr>
          <p:cNvPr id="128" name="TextBox 8"/>
          <p:cNvSpPr txBox="1"/>
          <p:nvPr/>
        </p:nvSpPr>
        <p:spPr>
          <a:xfrm>
            <a:off x="1896078" y="6351993"/>
            <a:ext cx="600554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a:t>
            </a:r>
            <a:r>
              <a:rPr lang="en-IN" dirty="0"/>
              <a:t>7</a:t>
            </a:r>
            <a:r>
              <a:rPr dirty="0"/>
              <a:t>: Hardware components </a:t>
            </a:r>
          </a:p>
        </p:txBody>
      </p:sp>
      <p:graphicFrame>
        <p:nvGraphicFramePr>
          <p:cNvPr id="129" name="Table 13"/>
          <p:cNvGraphicFramePr/>
          <p:nvPr>
            <p:extLst>
              <p:ext uri="{D42A27DB-BD31-4B8C-83A1-F6EECF244321}">
                <p14:modId xmlns:p14="http://schemas.microsoft.com/office/powerpoint/2010/main" val="1227738585"/>
              </p:ext>
            </p:extLst>
          </p:nvPr>
        </p:nvGraphicFramePr>
        <p:xfrm>
          <a:off x="7423734" y="3202567"/>
          <a:ext cx="4526114" cy="2529840"/>
        </p:xfrm>
        <a:graphic>
          <a:graphicData uri="http://schemas.openxmlformats.org/drawingml/2006/table">
            <a:tbl>
              <a:tblPr firstRow="1" bandRow="1">
                <a:tableStyleId>{4C3C2611-4C71-4FC5-86AE-919BDF0F9419}</a:tableStyleId>
              </a:tblPr>
              <a:tblGrid>
                <a:gridCol w="1508705">
                  <a:extLst>
                    <a:ext uri="{9D8B030D-6E8A-4147-A177-3AD203B41FA5}">
                      <a16:colId xmlns:a16="http://schemas.microsoft.com/office/drawing/2014/main" val="20000"/>
                    </a:ext>
                  </a:extLst>
                </a:gridCol>
                <a:gridCol w="1590015">
                  <a:extLst>
                    <a:ext uri="{9D8B030D-6E8A-4147-A177-3AD203B41FA5}">
                      <a16:colId xmlns:a16="http://schemas.microsoft.com/office/drawing/2014/main" val="20001"/>
                    </a:ext>
                  </a:extLst>
                </a:gridCol>
                <a:gridCol w="1427394">
                  <a:extLst>
                    <a:ext uri="{9D8B030D-6E8A-4147-A177-3AD203B41FA5}">
                      <a16:colId xmlns:a16="http://schemas.microsoft.com/office/drawing/2014/main" val="20002"/>
                    </a:ext>
                  </a:extLst>
                </a:gridCol>
              </a:tblGrid>
              <a:tr h="0">
                <a:tc>
                  <a:txBody>
                    <a:bodyPr/>
                    <a:lstStyle/>
                    <a:p>
                      <a:pPr algn="l">
                        <a:defRPr sz="1800" b="0"/>
                      </a:pPr>
                      <a:r>
                        <a:rPr sz="1400" b="1" dirty="0">
                          <a:sym typeface="Arial"/>
                        </a:rPr>
                        <a:t>S.NO.</a:t>
                      </a:r>
                    </a:p>
                  </a:txBody>
                  <a:tcPr marL="45720" marR="45720" horzOverflow="overflow"/>
                </a:tc>
                <a:tc>
                  <a:txBody>
                    <a:bodyPr/>
                    <a:lstStyle/>
                    <a:p>
                      <a:pPr algn="l">
                        <a:defRPr sz="1800" b="0"/>
                      </a:pPr>
                      <a:r>
                        <a:rPr sz="1400" b="1">
                          <a:sym typeface="Arial"/>
                        </a:rPr>
                        <a:t>Parts </a:t>
                      </a:r>
                    </a:p>
                  </a:txBody>
                  <a:tcPr marL="45720" marR="45720" horzOverflow="overflow"/>
                </a:tc>
                <a:tc>
                  <a:txBody>
                    <a:bodyPr/>
                    <a:lstStyle/>
                    <a:p>
                      <a:pPr algn="l">
                        <a:defRPr sz="1800" b="0"/>
                      </a:pPr>
                      <a:r>
                        <a:rPr sz="1400" b="1">
                          <a:sym typeface="Arial"/>
                        </a:rPr>
                        <a:t>Quantity</a:t>
                      </a:r>
                    </a:p>
                  </a:txBody>
                  <a:tcPr marL="45720" marR="45720" horzOverflow="overflow"/>
                </a:tc>
                <a:extLst>
                  <a:ext uri="{0D108BD9-81ED-4DB2-BD59-A6C34878D82A}">
                    <a16:rowId xmlns:a16="http://schemas.microsoft.com/office/drawing/2014/main" val="10000"/>
                  </a:ext>
                </a:extLst>
              </a:tr>
              <a:tr h="370840">
                <a:tc>
                  <a:txBody>
                    <a:bodyPr/>
                    <a:lstStyle/>
                    <a:p>
                      <a:pPr algn="l">
                        <a:defRPr sz="1800"/>
                      </a:pPr>
                      <a:r>
                        <a:rPr sz="1400">
                          <a:sym typeface="Arial"/>
                        </a:rPr>
                        <a:t>1.</a:t>
                      </a:r>
                    </a:p>
                  </a:txBody>
                  <a:tcPr marL="45720" marR="45720" horzOverflow="overflow"/>
                </a:tc>
                <a:tc>
                  <a:txBody>
                    <a:bodyPr/>
                    <a:lstStyle/>
                    <a:p>
                      <a:pPr algn="l">
                        <a:defRPr sz="1800"/>
                      </a:pPr>
                      <a:r>
                        <a:rPr sz="1400">
                          <a:sym typeface="Arial"/>
                        </a:rPr>
                        <a:t>Jumper Wires</a:t>
                      </a:r>
                    </a:p>
                  </a:txBody>
                  <a:tcPr marL="45720" marR="45720" horzOverflow="overflow"/>
                </a:tc>
                <a:tc>
                  <a:txBody>
                    <a:bodyPr/>
                    <a:lstStyle/>
                    <a:p>
                      <a:pPr algn="l">
                        <a:defRPr sz="1800"/>
                      </a:pPr>
                      <a:r>
                        <a:rPr sz="1400">
                          <a:sym typeface="Arial"/>
                        </a:rPr>
                        <a:t>3- Packs</a:t>
                      </a:r>
                    </a:p>
                  </a:txBody>
                  <a:tcPr marL="45720" marR="45720" horzOverflow="overflow"/>
                </a:tc>
                <a:extLst>
                  <a:ext uri="{0D108BD9-81ED-4DB2-BD59-A6C34878D82A}">
                    <a16:rowId xmlns:a16="http://schemas.microsoft.com/office/drawing/2014/main" val="10001"/>
                  </a:ext>
                </a:extLst>
              </a:tr>
              <a:tr h="370840">
                <a:tc>
                  <a:txBody>
                    <a:bodyPr/>
                    <a:lstStyle/>
                    <a:p>
                      <a:pPr algn="l">
                        <a:defRPr sz="1800"/>
                      </a:pPr>
                      <a:r>
                        <a:rPr sz="1400">
                          <a:sym typeface="Arial"/>
                        </a:rPr>
                        <a:t>2.</a:t>
                      </a:r>
                    </a:p>
                  </a:txBody>
                  <a:tcPr marL="45720" marR="45720" horzOverflow="overflow"/>
                </a:tc>
                <a:tc>
                  <a:txBody>
                    <a:bodyPr/>
                    <a:lstStyle/>
                    <a:p>
                      <a:pPr algn="l">
                        <a:defRPr sz="1800"/>
                      </a:pPr>
                      <a:r>
                        <a:rPr sz="1400" dirty="0">
                          <a:sym typeface="Arial"/>
                        </a:rPr>
                        <a:t>12V Power Supply</a:t>
                      </a:r>
                    </a:p>
                  </a:txBody>
                  <a:tcPr marL="45720" marR="45720" horzOverflow="overflow"/>
                </a:tc>
                <a:tc>
                  <a:txBody>
                    <a:bodyPr/>
                    <a:lstStyle/>
                    <a:p>
                      <a:pPr algn="l">
                        <a:defRPr sz="1800"/>
                      </a:pPr>
                      <a:r>
                        <a:rPr sz="1400">
                          <a:sym typeface="Arial"/>
                        </a:rPr>
                        <a:t>1</a:t>
                      </a:r>
                    </a:p>
                  </a:txBody>
                  <a:tcPr marL="45720" marR="45720" horzOverflow="overflow"/>
                </a:tc>
                <a:extLst>
                  <a:ext uri="{0D108BD9-81ED-4DB2-BD59-A6C34878D82A}">
                    <a16:rowId xmlns:a16="http://schemas.microsoft.com/office/drawing/2014/main" val="10002"/>
                  </a:ext>
                </a:extLst>
              </a:tr>
              <a:tr h="370840">
                <a:tc>
                  <a:txBody>
                    <a:bodyPr/>
                    <a:lstStyle/>
                    <a:p>
                      <a:pPr algn="l">
                        <a:defRPr sz="1800"/>
                      </a:pPr>
                      <a:r>
                        <a:rPr sz="1400">
                          <a:sym typeface="Arial"/>
                        </a:rPr>
                        <a:t>3.</a:t>
                      </a:r>
                    </a:p>
                  </a:txBody>
                  <a:tcPr marL="45720" marR="45720" horzOverflow="overflow"/>
                </a:tc>
                <a:tc>
                  <a:txBody>
                    <a:bodyPr/>
                    <a:lstStyle/>
                    <a:p>
                      <a:pPr algn="l">
                        <a:defRPr sz="1800"/>
                      </a:pPr>
                      <a:r>
                        <a:rPr sz="1400">
                          <a:sym typeface="Arial"/>
                        </a:rPr>
                        <a:t>Arduino Nano R3</a:t>
                      </a:r>
                    </a:p>
                  </a:txBody>
                  <a:tcPr marL="45720" marR="45720" horzOverflow="overflow"/>
                </a:tc>
                <a:tc>
                  <a:txBody>
                    <a:bodyPr/>
                    <a:lstStyle/>
                    <a:p>
                      <a:pPr algn="l">
                        <a:defRPr sz="1800"/>
                      </a:pPr>
                      <a:r>
                        <a:rPr sz="1400">
                          <a:sym typeface="Arial"/>
                        </a:rPr>
                        <a:t>1</a:t>
                      </a:r>
                    </a:p>
                  </a:txBody>
                  <a:tcPr marL="45720" marR="45720" horzOverflow="overflow"/>
                </a:tc>
                <a:extLst>
                  <a:ext uri="{0D108BD9-81ED-4DB2-BD59-A6C34878D82A}">
                    <a16:rowId xmlns:a16="http://schemas.microsoft.com/office/drawing/2014/main" val="10003"/>
                  </a:ext>
                </a:extLst>
              </a:tr>
              <a:tr h="370840">
                <a:tc>
                  <a:txBody>
                    <a:bodyPr/>
                    <a:lstStyle/>
                    <a:p>
                      <a:pPr algn="l">
                        <a:defRPr sz="1800"/>
                      </a:pPr>
                      <a:r>
                        <a:rPr lang="en-IN" sz="1400" dirty="0">
                          <a:sym typeface="Arial"/>
                        </a:rPr>
                        <a:t>4</a:t>
                      </a:r>
                      <a:r>
                        <a:rPr sz="1400" dirty="0">
                          <a:sym typeface="Arial"/>
                        </a:rPr>
                        <a:t>.</a:t>
                      </a:r>
                    </a:p>
                  </a:txBody>
                  <a:tcPr marL="45720" marR="45720" horzOverflow="overflow"/>
                </a:tc>
                <a:tc>
                  <a:txBody>
                    <a:bodyPr/>
                    <a:lstStyle/>
                    <a:p>
                      <a:pPr algn="l">
                        <a:defRPr sz="1800"/>
                      </a:pPr>
                      <a:r>
                        <a:rPr sz="1400">
                          <a:sym typeface="Arial"/>
                        </a:rPr>
                        <a:t>Bluetooth Module</a:t>
                      </a:r>
                    </a:p>
                  </a:txBody>
                  <a:tcPr marL="45720" marR="45720" horzOverflow="overflow"/>
                </a:tc>
                <a:tc>
                  <a:txBody>
                    <a:bodyPr/>
                    <a:lstStyle/>
                    <a:p>
                      <a:pPr algn="l">
                        <a:defRPr sz="1800"/>
                      </a:pPr>
                      <a:r>
                        <a:rPr sz="1400">
                          <a:sym typeface="Arial"/>
                        </a:rPr>
                        <a:t>1</a:t>
                      </a:r>
                    </a:p>
                  </a:txBody>
                  <a:tcPr marL="45720" marR="45720" horzOverflow="overflow"/>
                </a:tc>
                <a:extLst>
                  <a:ext uri="{0D108BD9-81ED-4DB2-BD59-A6C34878D82A}">
                    <a16:rowId xmlns:a16="http://schemas.microsoft.com/office/drawing/2014/main" val="10004"/>
                  </a:ext>
                </a:extLst>
              </a:tr>
              <a:tr h="370840">
                <a:tc>
                  <a:txBody>
                    <a:bodyPr/>
                    <a:lstStyle/>
                    <a:p>
                      <a:pPr algn="l">
                        <a:defRPr sz="1800"/>
                      </a:pPr>
                      <a:r>
                        <a:rPr lang="en-IN" sz="1400" dirty="0">
                          <a:sym typeface="Arial"/>
                        </a:rPr>
                        <a:t>5</a:t>
                      </a:r>
                      <a:r>
                        <a:rPr sz="1400" dirty="0">
                          <a:sym typeface="Arial"/>
                        </a:rPr>
                        <a:t>.</a:t>
                      </a:r>
                    </a:p>
                  </a:txBody>
                  <a:tcPr marL="45720" marR="45720" horzOverflow="overflow"/>
                </a:tc>
                <a:tc>
                  <a:txBody>
                    <a:bodyPr/>
                    <a:lstStyle/>
                    <a:p>
                      <a:pPr algn="l">
                        <a:defRPr sz="1800"/>
                      </a:pPr>
                      <a:r>
                        <a:rPr sz="1400">
                          <a:sym typeface="Arial"/>
                        </a:rPr>
                        <a:t>MG-90s Servos</a:t>
                      </a:r>
                    </a:p>
                  </a:txBody>
                  <a:tcPr marL="45720" marR="45720" horzOverflow="overflow"/>
                </a:tc>
                <a:tc>
                  <a:txBody>
                    <a:bodyPr/>
                    <a:lstStyle/>
                    <a:p>
                      <a:pPr algn="l">
                        <a:defRPr sz="1800"/>
                      </a:pPr>
                      <a:r>
                        <a:rPr sz="1400">
                          <a:sym typeface="Arial"/>
                        </a:rPr>
                        <a:t>3</a:t>
                      </a:r>
                    </a:p>
                  </a:txBody>
                  <a:tcPr marL="45720" marR="45720" horzOverflow="overflow"/>
                </a:tc>
                <a:extLst>
                  <a:ext uri="{0D108BD9-81ED-4DB2-BD59-A6C34878D82A}">
                    <a16:rowId xmlns:a16="http://schemas.microsoft.com/office/drawing/2014/main" val="10005"/>
                  </a:ext>
                </a:extLst>
              </a:tr>
              <a:tr h="370840">
                <a:tc>
                  <a:txBody>
                    <a:bodyPr/>
                    <a:lstStyle/>
                    <a:p>
                      <a:pPr algn="l">
                        <a:defRPr sz="1800"/>
                      </a:pPr>
                      <a:r>
                        <a:rPr lang="en-IN" sz="1400" dirty="0">
                          <a:sym typeface="Arial"/>
                        </a:rPr>
                        <a:t>6</a:t>
                      </a:r>
                      <a:r>
                        <a:rPr sz="1400" dirty="0">
                          <a:sym typeface="Arial"/>
                        </a:rPr>
                        <a:t>.</a:t>
                      </a:r>
                    </a:p>
                  </a:txBody>
                  <a:tcPr marL="45720" marR="45720" horzOverflow="overflow"/>
                </a:tc>
                <a:tc>
                  <a:txBody>
                    <a:bodyPr/>
                    <a:lstStyle/>
                    <a:p>
                      <a:pPr algn="l">
                        <a:defRPr sz="1800"/>
                      </a:pPr>
                      <a:r>
                        <a:rPr sz="1400" dirty="0">
                          <a:sym typeface="Arial"/>
                        </a:rPr>
                        <a:t>Buck Converter</a:t>
                      </a:r>
                    </a:p>
                  </a:txBody>
                  <a:tcPr marL="45720" marR="45720" horzOverflow="overflow"/>
                </a:tc>
                <a:tc>
                  <a:txBody>
                    <a:bodyPr/>
                    <a:lstStyle/>
                    <a:p>
                      <a:pPr algn="l">
                        <a:defRPr sz="1800"/>
                      </a:pPr>
                      <a:r>
                        <a:rPr sz="1400" dirty="0">
                          <a:sym typeface="Arial"/>
                        </a:rPr>
                        <a:t>1</a:t>
                      </a:r>
                    </a:p>
                  </a:txBody>
                  <a:tcPr marL="45720" marR="45720" horzOverflow="overflow"/>
                </a:tc>
                <a:extLst>
                  <a:ext uri="{0D108BD9-81ED-4DB2-BD59-A6C34878D82A}">
                    <a16:rowId xmlns:a16="http://schemas.microsoft.com/office/drawing/2014/main" val="10006"/>
                  </a:ext>
                </a:extLst>
              </a:tr>
            </a:tbl>
          </a:graphicData>
        </a:graphic>
      </p:graphicFrame>
      <p:sp>
        <p:nvSpPr>
          <p:cNvPr id="130" name="TextBox 15"/>
          <p:cNvSpPr txBox="1"/>
          <p:nvPr/>
        </p:nvSpPr>
        <p:spPr>
          <a:xfrm>
            <a:off x="1639585" y="5237722"/>
            <a:ext cx="344072" cy="2888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t>1. </a:t>
            </a:r>
          </a:p>
        </p:txBody>
      </p:sp>
      <p:sp>
        <p:nvSpPr>
          <p:cNvPr id="131" name="TextBox 16"/>
          <p:cNvSpPr txBox="1"/>
          <p:nvPr/>
        </p:nvSpPr>
        <p:spPr>
          <a:xfrm>
            <a:off x="2954158" y="2913743"/>
            <a:ext cx="344072"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rPr dirty="0"/>
              <a:t>2. </a:t>
            </a:r>
          </a:p>
        </p:txBody>
      </p:sp>
      <p:sp>
        <p:nvSpPr>
          <p:cNvPr id="132" name="TextBox 17"/>
          <p:cNvSpPr txBox="1"/>
          <p:nvPr/>
        </p:nvSpPr>
        <p:spPr>
          <a:xfrm>
            <a:off x="3008145" y="5391506"/>
            <a:ext cx="344072"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rPr lang="en-IN" dirty="0"/>
              <a:t>6</a:t>
            </a:r>
            <a:r>
              <a:rPr dirty="0"/>
              <a:t>. </a:t>
            </a:r>
          </a:p>
        </p:txBody>
      </p:sp>
      <p:sp>
        <p:nvSpPr>
          <p:cNvPr id="133" name="TextBox 18"/>
          <p:cNvSpPr txBox="1"/>
          <p:nvPr/>
        </p:nvSpPr>
        <p:spPr>
          <a:xfrm>
            <a:off x="3841439" y="5357359"/>
            <a:ext cx="344072"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t>3. </a:t>
            </a:r>
          </a:p>
        </p:txBody>
      </p:sp>
      <p:sp>
        <p:nvSpPr>
          <p:cNvPr id="134" name="TextBox 19"/>
          <p:cNvSpPr txBox="1"/>
          <p:nvPr/>
        </p:nvSpPr>
        <p:spPr>
          <a:xfrm>
            <a:off x="5348540" y="5545394"/>
            <a:ext cx="344072"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rPr lang="en-IN" dirty="0"/>
              <a:t>4</a:t>
            </a:r>
            <a:r>
              <a:rPr dirty="0"/>
              <a:t>. </a:t>
            </a:r>
          </a:p>
        </p:txBody>
      </p:sp>
      <p:sp>
        <p:nvSpPr>
          <p:cNvPr id="135" name="TextBox 20"/>
          <p:cNvSpPr txBox="1"/>
          <p:nvPr/>
        </p:nvSpPr>
        <p:spPr>
          <a:xfrm>
            <a:off x="5593146" y="3733277"/>
            <a:ext cx="344072"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rPr lang="en-IN" dirty="0"/>
              <a:t>5</a:t>
            </a:r>
            <a:r>
              <a:rPr dirty="0"/>
              <a:t>. </a:t>
            </a:r>
          </a:p>
        </p:txBody>
      </p:sp>
      <p:sp>
        <p:nvSpPr>
          <p:cNvPr id="2" name="TextBox 1">
            <a:extLst>
              <a:ext uri="{FF2B5EF4-FFF2-40B4-BE49-F238E27FC236}">
                <a16:creationId xmlns:a16="http://schemas.microsoft.com/office/drawing/2014/main" id="{099F70F7-9FB2-C66C-FDBC-7E58665D42FE}"/>
              </a:ext>
            </a:extLst>
          </p:cNvPr>
          <p:cNvSpPr txBox="1"/>
          <p:nvPr/>
        </p:nvSpPr>
        <p:spPr>
          <a:xfrm>
            <a:off x="7423734" y="1681163"/>
            <a:ext cx="4434771" cy="1231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US" sz="1600" dirty="0">
                <a:latin typeface="Times New Roman" panose="02020603050405020304" pitchFamily="18" charset="0"/>
                <a:cs typeface="Times New Roman" panose="02020603050405020304" pitchFamily="18" charset="0"/>
              </a:rPr>
              <a:t>The hardware table lists the components used in the system, detailing their specifications and roles. It serves as a reference for understanding each hardware element's function and how they integrate to ensure optimal system performance.</a:t>
            </a:r>
            <a:endParaRPr kumimoji="0" lang="en-IN"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itle 1"/>
          <p:cNvSpPr txBox="1">
            <a:spLocks noGrp="1"/>
          </p:cNvSpPr>
          <p:nvPr>
            <p:ph type="title"/>
          </p:nvPr>
        </p:nvSpPr>
        <p:spPr>
          <a:xfrm>
            <a:off x="91167" y="298389"/>
            <a:ext cx="9885682" cy="1076962"/>
          </a:xfrm>
          <a:prstGeom prst="rect">
            <a:avLst/>
          </a:prstGeom>
        </p:spPr>
        <p:txBody>
          <a:bodyPr>
            <a:normAutofit/>
          </a:bodyPr>
          <a:lstStyle/>
          <a:p>
            <a:r>
              <a:rPr lang="en-IN" sz="4500" b="1" dirty="0">
                <a:latin typeface="Times New Roman" panose="02020603050405020304" pitchFamily="18" charset="0"/>
                <a:cs typeface="Times New Roman" panose="02020603050405020304" pitchFamily="18" charset="0"/>
              </a:rPr>
              <a:t>  </a:t>
            </a:r>
            <a:r>
              <a:rPr sz="4500" b="1" dirty="0">
                <a:latin typeface="Times New Roman" panose="02020603050405020304" pitchFamily="18" charset="0"/>
                <a:cs typeface="Times New Roman" panose="02020603050405020304" pitchFamily="18" charset="0"/>
              </a:rPr>
              <a:t>C</a:t>
            </a:r>
            <a:r>
              <a:rPr lang="en-US" sz="4500" b="1" dirty="0">
                <a:latin typeface="Times New Roman" panose="02020603050405020304" pitchFamily="18" charset="0"/>
                <a:cs typeface="Times New Roman" panose="02020603050405020304" pitchFamily="18" charset="0"/>
              </a:rPr>
              <a:t>onnection</a:t>
            </a:r>
            <a:r>
              <a:rPr sz="4500" b="1" dirty="0">
                <a:latin typeface="Times New Roman" panose="02020603050405020304" pitchFamily="18" charset="0"/>
                <a:cs typeface="Times New Roman" panose="02020603050405020304" pitchFamily="18" charset="0"/>
              </a:rPr>
              <a:t> Diagram- </a:t>
            </a:r>
          </a:p>
        </p:txBody>
      </p:sp>
      <p:sp>
        <p:nvSpPr>
          <p:cNvPr id="142" name="Text Placeholder 4"/>
          <p:cNvSpPr txBox="1">
            <a:spLocks noGrp="1"/>
          </p:cNvSpPr>
          <p:nvPr>
            <p:ph type="body" idx="22"/>
          </p:nvPr>
        </p:nvSpPr>
        <p:spPr>
          <a:xfrm>
            <a:off x="7084908" y="1543940"/>
            <a:ext cx="3324226" cy="54535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228600" indent="0">
              <a:lnSpc>
                <a:spcPct val="81000"/>
              </a:lnSpc>
              <a:buClrTx/>
              <a:buSzTx/>
              <a:buFontTx/>
              <a:buNone/>
              <a:defRPr sz="2400" b="1"/>
            </a:lvl1pPr>
          </a:lstStyle>
          <a:p>
            <a:r>
              <a:rPr lang="en-US" dirty="0"/>
              <a:t>DC motor</a:t>
            </a:r>
            <a:r>
              <a:rPr dirty="0"/>
              <a:t> Diagram-</a:t>
            </a:r>
          </a:p>
        </p:txBody>
      </p:sp>
      <p:pic>
        <p:nvPicPr>
          <p:cNvPr id="3" name="Picture 2">
            <a:extLst>
              <a:ext uri="{FF2B5EF4-FFF2-40B4-BE49-F238E27FC236}">
                <a16:creationId xmlns:a16="http://schemas.microsoft.com/office/drawing/2014/main" id="{E531E286-27F5-CD2B-E987-6FCA60EB5A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9440" y="2413000"/>
            <a:ext cx="5496560" cy="20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8">
            <a:extLst>
              <a:ext uri="{FF2B5EF4-FFF2-40B4-BE49-F238E27FC236}">
                <a16:creationId xmlns:a16="http://schemas.microsoft.com/office/drawing/2014/main" id="{E03B1B9C-419E-E2EA-EBFA-F52C50A90094}"/>
              </a:ext>
            </a:extLst>
          </p:cNvPr>
          <p:cNvSpPr txBox="1"/>
          <p:nvPr/>
        </p:nvSpPr>
        <p:spPr>
          <a:xfrm>
            <a:off x="539349" y="4551561"/>
            <a:ext cx="600554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Figure </a:t>
            </a:r>
            <a:r>
              <a:rPr lang="en-IN" dirty="0"/>
              <a:t>8</a:t>
            </a:r>
            <a:r>
              <a:rPr dirty="0"/>
              <a:t>: </a:t>
            </a:r>
            <a:r>
              <a:rPr lang="en-IN" dirty="0"/>
              <a:t>Connection Diagram of DC Motors, Switch and Power jack</a:t>
            </a:r>
            <a:endParaRPr dirty="0"/>
          </a:p>
        </p:txBody>
      </p:sp>
      <p:sp>
        <p:nvSpPr>
          <p:cNvPr id="6" name="Rectangle 2">
            <a:extLst>
              <a:ext uri="{FF2B5EF4-FFF2-40B4-BE49-F238E27FC236}">
                <a16:creationId xmlns:a16="http://schemas.microsoft.com/office/drawing/2014/main" id="{A2A239C2-8A06-AD8F-0EDF-E298AC3AE5B3}"/>
              </a:ext>
            </a:extLst>
          </p:cNvPr>
          <p:cNvSpPr>
            <a:spLocks noGrp="1" noChangeArrowheads="1"/>
          </p:cNvSpPr>
          <p:nvPr>
            <p:ph type="body" idx="23"/>
          </p:nvPr>
        </p:nvSpPr>
        <p:spPr bwMode="auto">
          <a:xfrm>
            <a:off x="7299281" y="2136397"/>
            <a:ext cx="470113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connection diagram shows a 12V power jack linked to a switch that controls two 130 DC motors. The power jack’s positive terminal connects to the switch, then splits to power both motors. The negative terminal goes directly to the motors’ negative ends. This setup allows both motors to run simultaneously when the switch is turned on, enabling simple and effective power control.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 Placeholder 4"/>
          <p:cNvSpPr txBox="1">
            <a:spLocks noGrp="1"/>
          </p:cNvSpPr>
          <p:nvPr>
            <p:ph type="body" idx="22"/>
          </p:nvPr>
        </p:nvSpPr>
        <p:spPr>
          <a:xfrm>
            <a:off x="5534860" y="1573726"/>
            <a:ext cx="5183188" cy="48468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228600" indent="0">
              <a:buClrTx/>
              <a:buSzTx/>
              <a:buFontTx/>
              <a:buNone/>
              <a:defRPr sz="2400" b="1"/>
            </a:lvl1pPr>
          </a:lstStyle>
          <a:p>
            <a:r>
              <a:rPr dirty="0"/>
              <a:t>HC-05 Bluetooth module wiring</a:t>
            </a:r>
          </a:p>
        </p:txBody>
      </p:sp>
      <p:sp>
        <p:nvSpPr>
          <p:cNvPr id="150" name="Text Placeholder 5"/>
          <p:cNvSpPr txBox="1">
            <a:spLocks noGrp="1"/>
          </p:cNvSpPr>
          <p:nvPr>
            <p:ph type="body" idx="23"/>
          </p:nvPr>
        </p:nvSpPr>
        <p:spPr>
          <a:xfrm>
            <a:off x="4661895" y="2169026"/>
            <a:ext cx="6505303" cy="232923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Autofit/>
          </a:bodyPr>
          <a:lstStyle/>
          <a:p>
            <a:pPr marL="114300" indent="0" algn="just">
              <a:lnSpc>
                <a:spcPct val="120000"/>
              </a:lnSpc>
              <a:buSzPts val="2800"/>
              <a:buNone/>
              <a:defRPr sz="2800"/>
            </a:pPr>
            <a:r>
              <a:rPr lang="en-US" sz="2000" dirty="0">
                <a:latin typeface="Times New Roman" panose="02020603050405020304" pitchFamily="18" charset="0"/>
                <a:cs typeface="Times New Roman" panose="02020603050405020304" pitchFamily="18" charset="0"/>
              </a:rPr>
              <a:t>The connection diagram shows the HC-05 Bluetooth module linked to an Arduino Nano. The HC-05's VCC and GND are connected to the Nano’s 5V and GND for power. TXD and RXD are connected to D2 and D3, respectively, enabling software serial communication for Bluetooth-based data exchange with external devices.</a:t>
            </a: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7D3DBF-0267-53BD-B6FF-34C801D97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952" y="1574531"/>
            <a:ext cx="2346828" cy="41869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itle 1">
            <a:extLst>
              <a:ext uri="{FF2B5EF4-FFF2-40B4-BE49-F238E27FC236}">
                <a16:creationId xmlns:a16="http://schemas.microsoft.com/office/drawing/2014/main" id="{88D922F9-1D75-4982-1DD5-3CAC5B9863EB}"/>
              </a:ext>
            </a:extLst>
          </p:cNvPr>
          <p:cNvSpPr txBox="1">
            <a:spLocks/>
          </p:cNvSpPr>
          <p:nvPr/>
        </p:nvSpPr>
        <p:spPr>
          <a:xfrm>
            <a:off x="91167" y="298389"/>
            <a:ext cx="9885682" cy="10769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9pPr>
          </a:lstStyle>
          <a:p>
            <a:pPr hangingPunct="1"/>
            <a:r>
              <a:rPr lang="en-IN" sz="4500" b="1" dirty="0">
                <a:latin typeface="Times New Roman" panose="02020603050405020304" pitchFamily="18" charset="0"/>
                <a:cs typeface="Times New Roman" panose="02020603050405020304" pitchFamily="18" charset="0"/>
              </a:rPr>
              <a:t>  Connection Diagram- </a:t>
            </a:r>
          </a:p>
        </p:txBody>
      </p:sp>
      <p:sp>
        <p:nvSpPr>
          <p:cNvPr id="7" name="TextBox 8">
            <a:extLst>
              <a:ext uri="{FF2B5EF4-FFF2-40B4-BE49-F238E27FC236}">
                <a16:creationId xmlns:a16="http://schemas.microsoft.com/office/drawing/2014/main" id="{8C7B8C88-2C95-D025-9127-22001F31AC4D}"/>
              </a:ext>
            </a:extLst>
          </p:cNvPr>
          <p:cNvSpPr txBox="1"/>
          <p:nvPr/>
        </p:nvSpPr>
        <p:spPr>
          <a:xfrm>
            <a:off x="950469" y="5877933"/>
            <a:ext cx="3393794"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r>
              <a:rPr dirty="0"/>
              <a:t>Figure </a:t>
            </a:r>
            <a:r>
              <a:rPr lang="en-IN" dirty="0"/>
              <a:t>9</a:t>
            </a:r>
            <a:r>
              <a:rPr dirty="0"/>
              <a:t>: </a:t>
            </a:r>
            <a:r>
              <a:rPr lang="en-IN" dirty="0"/>
              <a:t>Connection Diagram of Arduino Nano and HC-05</a:t>
            </a:r>
            <a:endParaRPr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txBox="1">
            <a:spLocks noGrp="1"/>
          </p:cNvSpPr>
          <p:nvPr>
            <p:ph type="body" idx="22"/>
          </p:nvPr>
        </p:nvSpPr>
        <p:spPr>
          <a:xfrm>
            <a:off x="5817326" y="1414215"/>
            <a:ext cx="4947382" cy="46694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228600" indent="0">
              <a:lnSpc>
                <a:spcPct val="81000"/>
              </a:lnSpc>
              <a:buClrTx/>
              <a:buSzTx/>
              <a:buFontTx/>
              <a:buNone/>
              <a:defRPr sz="2400" b="1"/>
            </a:lvl1pPr>
          </a:lstStyle>
          <a:p>
            <a:pPr algn="ctr"/>
            <a:r>
              <a:rPr lang="en-US" dirty="0"/>
              <a:t>Servo motors connection</a:t>
            </a:r>
            <a:r>
              <a:rPr dirty="0"/>
              <a:t> Diagram</a:t>
            </a:r>
          </a:p>
        </p:txBody>
      </p:sp>
      <p:sp>
        <p:nvSpPr>
          <p:cNvPr id="9" name="AutoShape 2" descr="blob:https://web.whatsapp.com/f2bda29a-e86a-4c36-b43a-eb0b90b606f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46784D00-6580-1B71-13C2-EA76C5D56D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975" y="2001368"/>
            <a:ext cx="4784371" cy="35034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itle 1">
            <a:extLst>
              <a:ext uri="{FF2B5EF4-FFF2-40B4-BE49-F238E27FC236}">
                <a16:creationId xmlns:a16="http://schemas.microsoft.com/office/drawing/2014/main" id="{7BF12C18-BBB9-7845-C146-6636A41ACFBC}"/>
              </a:ext>
            </a:extLst>
          </p:cNvPr>
          <p:cNvSpPr txBox="1">
            <a:spLocks/>
          </p:cNvSpPr>
          <p:nvPr/>
        </p:nvSpPr>
        <p:spPr>
          <a:xfrm>
            <a:off x="91167" y="298389"/>
            <a:ext cx="9885682" cy="10769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9pPr>
          </a:lstStyle>
          <a:p>
            <a:pPr hangingPunct="1"/>
            <a:r>
              <a:rPr lang="en-IN" sz="4500" b="1" dirty="0">
                <a:latin typeface="Times New Roman" panose="02020603050405020304" pitchFamily="18" charset="0"/>
                <a:cs typeface="Times New Roman" panose="02020603050405020304" pitchFamily="18" charset="0"/>
              </a:rPr>
              <a:t>  Connection Diagram </a:t>
            </a:r>
          </a:p>
        </p:txBody>
      </p:sp>
      <p:sp>
        <p:nvSpPr>
          <p:cNvPr id="12" name="TextBox 8">
            <a:extLst>
              <a:ext uri="{FF2B5EF4-FFF2-40B4-BE49-F238E27FC236}">
                <a16:creationId xmlns:a16="http://schemas.microsoft.com/office/drawing/2014/main" id="{04A1E7DB-8A69-B312-26D4-007ECB1AE3CC}"/>
              </a:ext>
            </a:extLst>
          </p:cNvPr>
          <p:cNvSpPr txBox="1"/>
          <p:nvPr/>
        </p:nvSpPr>
        <p:spPr>
          <a:xfrm>
            <a:off x="307975" y="5607584"/>
            <a:ext cx="4833368"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r>
              <a:rPr dirty="0"/>
              <a:t>Figure </a:t>
            </a:r>
            <a:r>
              <a:rPr lang="en-IN" dirty="0"/>
              <a:t>10</a:t>
            </a:r>
            <a:r>
              <a:rPr dirty="0"/>
              <a:t>: </a:t>
            </a:r>
            <a:r>
              <a:rPr lang="en-IN" dirty="0"/>
              <a:t>Connection Diagram of Servo Motors, Arduino Nano, Buck Converter and Power jack</a:t>
            </a:r>
            <a:endParaRPr dirty="0"/>
          </a:p>
        </p:txBody>
      </p:sp>
      <p:sp>
        <p:nvSpPr>
          <p:cNvPr id="14" name="Text Placeholder 13">
            <a:extLst>
              <a:ext uri="{FF2B5EF4-FFF2-40B4-BE49-F238E27FC236}">
                <a16:creationId xmlns:a16="http://schemas.microsoft.com/office/drawing/2014/main" id="{E5E7FCE7-234E-1247-3E9B-B3DCA3326E95}"/>
              </a:ext>
            </a:extLst>
          </p:cNvPr>
          <p:cNvSpPr>
            <a:spLocks noGrp="1"/>
          </p:cNvSpPr>
          <p:nvPr>
            <p:ph type="body" sz="half" idx="23"/>
          </p:nvPr>
        </p:nvSpPr>
        <p:spPr>
          <a:xfrm>
            <a:off x="5817326" y="2068315"/>
            <a:ext cx="5817467" cy="2592175"/>
          </a:xfrm>
        </p:spPr>
        <p:txBody>
          <a:bodyPr>
            <a:normAutofit fontScale="92500"/>
          </a:bodyPr>
          <a:lstStyle/>
          <a:p>
            <a:pPr marL="25400" indent="0" algn="just">
              <a:lnSpc>
                <a:spcPct val="120000"/>
              </a:lnSpc>
              <a:buNone/>
            </a:pPr>
            <a:r>
              <a:rPr lang="en-US" sz="2000" dirty="0">
                <a:latin typeface="Times New Roman" panose="02020603050405020304" pitchFamily="18" charset="0"/>
                <a:cs typeface="Times New Roman" panose="02020603050405020304" pitchFamily="18" charset="0"/>
              </a:rPr>
              <a:t>The connection diagram includes three servos, a buck converter, a power jack, and an Arduino Nano. The servos receive stable power from the buck converter, which is fed by the power jack. The Arduino Nano serves as the central controller, managing servo movements based on input commands, with all components connected to ensure reliable system operation.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33432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935" y="323094"/>
            <a:ext cx="10186279" cy="904382"/>
          </a:xfrm>
        </p:spPr>
        <p:txBody>
          <a:bodyPr>
            <a:normAutofit/>
          </a:bodyPr>
          <a:lstStyle/>
          <a:p>
            <a:r>
              <a:rPr lang="en-US" sz="4500" b="1" dirty="0">
                <a:latin typeface="Times New Roman" panose="02020603050405020304" pitchFamily="18" charset="0"/>
                <a:cs typeface="Times New Roman" panose="02020603050405020304" pitchFamily="18" charset="0"/>
              </a:rPr>
              <a:t>  Budget</a:t>
            </a:r>
            <a:endParaRPr lang="en-IN" sz="45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1"/>
          </p:nvPr>
        </p:nvSpPr>
        <p:spPr>
          <a:xfrm>
            <a:off x="308845" y="2667880"/>
            <a:ext cx="7558489" cy="3684588"/>
          </a:xfrm>
        </p:spPr>
        <p:txBody>
          <a:bodyPr/>
          <a:lstStyle/>
          <a:p>
            <a:pPr>
              <a:buFont typeface="Arial" panose="020B0604020202020204" pitchFamily="34" charset="0"/>
              <a:buChar char="•"/>
            </a:pPr>
            <a:r>
              <a:rPr lang="en-US" dirty="0"/>
              <a:t>3-D model Printed Parts - </a:t>
            </a:r>
            <a:r>
              <a:rPr lang="en-IN" b="0" i="0" dirty="0">
                <a:solidFill>
                  <a:srgbClr val="1F1F1F"/>
                </a:solidFill>
                <a:effectLst/>
                <a:latin typeface="Google Sans"/>
              </a:rPr>
              <a:t>₹</a:t>
            </a:r>
            <a:r>
              <a:rPr lang="en-US" dirty="0"/>
              <a:t>2500/-</a:t>
            </a:r>
          </a:p>
          <a:p>
            <a:pPr>
              <a:buFont typeface="Arial" panose="020B0604020202020204" pitchFamily="34" charset="0"/>
              <a:buChar char="•"/>
            </a:pPr>
            <a:r>
              <a:rPr lang="en-US" dirty="0"/>
              <a:t>Hardware Components -  </a:t>
            </a:r>
            <a:r>
              <a:rPr lang="en-IN" b="0" i="0" dirty="0">
                <a:solidFill>
                  <a:srgbClr val="1F1F1F"/>
                </a:solidFill>
                <a:effectLst/>
                <a:latin typeface="Google Sans"/>
              </a:rPr>
              <a:t>₹</a:t>
            </a:r>
            <a:r>
              <a:rPr lang="en-US" dirty="0"/>
              <a:t>2000/-</a:t>
            </a:r>
          </a:p>
          <a:p>
            <a:pPr>
              <a:buFont typeface="Arial" panose="020B0604020202020204" pitchFamily="34" charset="0"/>
              <a:buChar char="•"/>
            </a:pPr>
            <a:r>
              <a:rPr lang="en-US" dirty="0"/>
              <a:t>Overall Budget -                 </a:t>
            </a:r>
            <a:r>
              <a:rPr lang="en-IN" b="0" i="0" dirty="0">
                <a:solidFill>
                  <a:srgbClr val="1F1F1F"/>
                </a:solidFill>
                <a:effectLst/>
                <a:latin typeface="Google Sans"/>
              </a:rPr>
              <a:t>₹</a:t>
            </a:r>
            <a:r>
              <a:rPr lang="en-US" dirty="0"/>
              <a:t>4500/-</a:t>
            </a:r>
          </a:p>
          <a:p>
            <a:pPr>
              <a:buFont typeface="Wingdings" panose="05000000000000000000" pitchFamily="2" charset="2"/>
              <a:buChar char="§"/>
            </a:pPr>
            <a:endParaRPr lang="en-US" dirty="0"/>
          </a:p>
          <a:p>
            <a:pPr marL="25400" indent="0">
              <a:buNone/>
            </a:pPr>
            <a:endParaRPr lang="en-IN" dirty="0"/>
          </a:p>
        </p:txBody>
      </p:sp>
      <p:cxnSp>
        <p:nvCxnSpPr>
          <p:cNvPr id="8" name="Straight Connector 7"/>
          <p:cNvCxnSpPr/>
          <p:nvPr/>
        </p:nvCxnSpPr>
        <p:spPr>
          <a:xfrm flipV="1">
            <a:off x="308845" y="3759831"/>
            <a:ext cx="7611755" cy="26633"/>
          </a:xfrm>
          <a:prstGeom prst="line">
            <a:avLst/>
          </a:prstGeom>
          <a:noFill/>
          <a:ln w="25400" cap="flat">
            <a:solidFill>
              <a:schemeClr val="tx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5" name="Picture 4">
            <a:extLst>
              <a:ext uri="{FF2B5EF4-FFF2-40B4-BE49-F238E27FC236}">
                <a16:creationId xmlns:a16="http://schemas.microsoft.com/office/drawing/2014/main" id="{08DC178A-0C0A-55E8-CCDC-3FE4FBC6DC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1542" y="1623960"/>
            <a:ext cx="3339281" cy="42680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8">
            <a:extLst>
              <a:ext uri="{FF2B5EF4-FFF2-40B4-BE49-F238E27FC236}">
                <a16:creationId xmlns:a16="http://schemas.microsoft.com/office/drawing/2014/main" id="{937A4833-680E-1AEE-B8E1-A2FCFCFA41DF}"/>
              </a:ext>
            </a:extLst>
          </p:cNvPr>
          <p:cNvSpPr txBox="1"/>
          <p:nvPr/>
        </p:nvSpPr>
        <p:spPr>
          <a:xfrm>
            <a:off x="7696715" y="5980688"/>
            <a:ext cx="4833368"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r>
              <a:rPr dirty="0"/>
              <a:t>Figure </a:t>
            </a:r>
            <a:r>
              <a:rPr lang="en-IN" dirty="0"/>
              <a:t>11</a:t>
            </a:r>
            <a:r>
              <a:rPr dirty="0"/>
              <a:t>: </a:t>
            </a:r>
            <a:r>
              <a:rPr lang="en-IN" dirty="0"/>
              <a:t>Final Model</a:t>
            </a:r>
            <a:endParaRPr dirty="0"/>
          </a:p>
        </p:txBody>
      </p:sp>
    </p:spTree>
    <p:extLst>
      <p:ext uri="{BB962C8B-B14F-4D97-AF65-F5344CB8AC3E}">
        <p14:creationId xmlns:p14="http://schemas.microsoft.com/office/powerpoint/2010/main" val="191488114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9988EB-3AC4-4CE3-2532-19A785DCEE1F}"/>
              </a:ext>
            </a:extLst>
          </p:cNvPr>
          <p:cNvSpPr txBox="1">
            <a:spLocks/>
          </p:cNvSpPr>
          <p:nvPr/>
        </p:nvSpPr>
        <p:spPr>
          <a:xfrm>
            <a:off x="177935" y="323094"/>
            <a:ext cx="10186279" cy="904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b">
            <a:normAutofit/>
          </a:bodyPr>
          <a:lstStyle>
            <a:lvl1pPr marL="0" marR="0" indent="0" algn="ctr" defTabSz="914400" rtl="0" latinLnBrk="0">
              <a:lnSpc>
                <a:spcPct val="90000"/>
              </a:lnSpc>
              <a:spcBef>
                <a:spcPts val="0"/>
              </a:spcBef>
              <a:spcAft>
                <a:spcPts val="0"/>
              </a:spcAft>
              <a:buClrTx/>
              <a:buSzTx/>
              <a:buFontTx/>
              <a:buNone/>
              <a:tabLst/>
              <a:defRPr sz="6000" b="0" i="0" u="none" strike="noStrike" cap="none" spc="0" baseline="0">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3200" b="0" i="0" u="none" strike="noStrike" cap="none" spc="0" baseline="0">
                <a:solidFill>
                  <a:srgbClr val="000000"/>
                </a:solidFill>
                <a:uFillTx/>
                <a:latin typeface="Calibri"/>
                <a:ea typeface="Calibri"/>
                <a:cs typeface="Calibri"/>
                <a:sym typeface="Calibri"/>
              </a:defRPr>
            </a:lvl9pPr>
          </a:lstStyle>
          <a:p>
            <a:pPr algn="l" hangingPunct="1"/>
            <a:r>
              <a:rPr lang="en-IN" sz="4500" b="1" dirty="0">
                <a:latin typeface="Times New Roman" panose="02020603050405020304" pitchFamily="18" charset="0"/>
                <a:cs typeface="Times New Roman" panose="02020603050405020304" pitchFamily="18" charset="0"/>
              </a:rPr>
              <a:t>Analysis and Future Work</a:t>
            </a:r>
          </a:p>
        </p:txBody>
      </p:sp>
      <p:sp>
        <p:nvSpPr>
          <p:cNvPr id="5" name="TextBox 4">
            <a:extLst>
              <a:ext uri="{FF2B5EF4-FFF2-40B4-BE49-F238E27FC236}">
                <a16:creationId xmlns:a16="http://schemas.microsoft.com/office/drawing/2014/main" id="{BDC0B414-2774-FFB3-4FC2-173E8395AFF8}"/>
              </a:ext>
            </a:extLst>
          </p:cNvPr>
          <p:cNvSpPr txBox="1"/>
          <p:nvPr/>
        </p:nvSpPr>
        <p:spPr>
          <a:xfrm>
            <a:off x="6356783" y="1751905"/>
            <a:ext cx="5326741" cy="46535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just" defTabSz="914400" rtl="0" fontAlgn="auto" latinLnBrk="0" hangingPunct="0">
              <a:lnSpc>
                <a:spcPct val="120000"/>
              </a:lnSpc>
              <a:spcBef>
                <a:spcPts val="0"/>
              </a:spcBef>
              <a:spcAft>
                <a:spcPts val="0"/>
              </a:spcAft>
              <a:buClrTx/>
              <a:buSzTx/>
              <a:buFontTx/>
              <a:buNone/>
              <a:tabLst/>
            </a:pPr>
            <a:r>
              <a:rPr lang="en-US" sz="2000" dirty="0">
                <a:latin typeface="Times New Roman" panose="02020603050405020304" pitchFamily="18" charset="0"/>
                <a:cs typeface="Times New Roman" panose="02020603050405020304" pitchFamily="18" charset="0"/>
              </a:rPr>
              <a:t>The system combines IoT and robotics using affordable components like the Arduino Nano and HC-05 module, offering stable control, power regulation, and accurate aiming. Minor latency from Bluetooth and the need for calibration are noted. Future improvements include using Wi-Fi/BLE, adding sensors for auto-targeting, and integrating vision systems. Its modular design supports easy upgrades and experimentation.</a:t>
            </a:r>
          </a:p>
          <a:p>
            <a:pPr marL="0" marR="0" indent="0" algn="just" defTabSz="914400" rtl="0" fontAlgn="auto" latinLnBrk="0" hangingPunct="0">
              <a:lnSpc>
                <a:spcPct val="120000"/>
              </a:lnSpc>
              <a:spcBef>
                <a:spcPts val="0"/>
              </a:spcBef>
              <a:spcAft>
                <a:spcPts val="0"/>
              </a:spcAft>
              <a:buClrTx/>
              <a:buSzTx/>
              <a:buFontTx/>
              <a:buNone/>
              <a:tabLst/>
            </a:pPr>
            <a:endParaRPr kumimoji="0" lang="en-US" sz="20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a:endParaRPr>
          </a:p>
          <a:p>
            <a:pPr marL="0" marR="0" indent="0" algn="just" defTabSz="914400" rtl="0" fontAlgn="auto" latinLnBrk="0" hangingPunct="0">
              <a:lnSpc>
                <a:spcPct val="120000"/>
              </a:lnSpc>
              <a:spcBef>
                <a:spcPts val="0"/>
              </a:spcBef>
              <a:spcAft>
                <a:spcPts val="0"/>
              </a:spcAft>
              <a:buClrTx/>
              <a:buSzTx/>
              <a:buFontTx/>
              <a:buNone/>
              <a:tabLst/>
            </a:pPr>
            <a:r>
              <a:rPr lang="en-US" sz="2000" b="1" dirty="0">
                <a:latin typeface="Times New Roman" panose="02020603050405020304" pitchFamily="18" charset="0"/>
                <a:cs typeface="Times New Roman" panose="02020603050405020304" pitchFamily="18" charset="0"/>
              </a:rPr>
              <a:t>Video </a:t>
            </a:r>
            <a:r>
              <a:rPr lang="en-US" sz="2000" b="1">
                <a:latin typeface="Times New Roman" panose="02020603050405020304" pitchFamily="18" charset="0"/>
                <a:cs typeface="Times New Roman" panose="02020603050405020304" pitchFamily="18" charset="0"/>
              </a:rPr>
              <a:t>Link of Project</a:t>
            </a:r>
            <a:endParaRPr lang="en-US" sz="2000" b="1" dirty="0">
              <a:latin typeface="Times New Roman" panose="02020603050405020304" pitchFamily="18" charset="0"/>
              <a:cs typeface="Times New Roman" panose="02020603050405020304" pitchFamily="18" charset="0"/>
            </a:endParaRPr>
          </a:p>
          <a:p>
            <a:pPr marL="0" marR="0" indent="0" algn="just" defTabSz="914400" rtl="0" fontAlgn="auto" latinLnBrk="0" hangingPunct="0">
              <a:lnSpc>
                <a:spcPct val="120000"/>
              </a:lnSpc>
              <a:spcBef>
                <a:spcPts val="0"/>
              </a:spcBef>
              <a:spcAft>
                <a:spcPts val="0"/>
              </a:spcAft>
              <a:buClrTx/>
              <a:buSzTx/>
              <a:buFontTx/>
              <a:buNone/>
              <a:tabLst/>
            </a:pPr>
            <a:r>
              <a:rPr kumimoji="0" lang="en-IN" sz="16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a:rPr>
              <a:t>https://drive.google.com/file/d/13aaMvZ8cC9n20jFoKirqlNgucj_WoWrF/view?usp=drive_link</a:t>
            </a:r>
          </a:p>
        </p:txBody>
      </p:sp>
      <p:pic>
        <p:nvPicPr>
          <p:cNvPr id="7" name="Picture 6">
            <a:extLst>
              <a:ext uri="{FF2B5EF4-FFF2-40B4-BE49-F238E27FC236}">
                <a16:creationId xmlns:a16="http://schemas.microsoft.com/office/drawing/2014/main" id="{014C8926-298D-B16B-38D9-DA464D8AAF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962" y="1765004"/>
            <a:ext cx="2573540" cy="35786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3AB03106-E24A-7E42-96AD-0819BA6903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289" y="1765004"/>
            <a:ext cx="2573540" cy="35786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extBox 8">
            <a:extLst>
              <a:ext uri="{FF2B5EF4-FFF2-40B4-BE49-F238E27FC236}">
                <a16:creationId xmlns:a16="http://schemas.microsoft.com/office/drawing/2014/main" id="{26E9F144-406B-995C-18F4-5DAE854EC0DD}"/>
              </a:ext>
            </a:extLst>
          </p:cNvPr>
          <p:cNvSpPr txBox="1"/>
          <p:nvPr/>
        </p:nvSpPr>
        <p:spPr>
          <a:xfrm>
            <a:off x="277482" y="5509799"/>
            <a:ext cx="4833368"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r>
              <a:rPr dirty="0"/>
              <a:t>Figure </a:t>
            </a:r>
            <a:r>
              <a:rPr lang="en-IN" dirty="0"/>
              <a:t>12</a:t>
            </a:r>
            <a:r>
              <a:rPr dirty="0"/>
              <a:t>: </a:t>
            </a:r>
            <a:r>
              <a:rPr lang="en-IN" dirty="0"/>
              <a:t>Closeup of Final Model</a:t>
            </a:r>
            <a:endParaRPr dirty="0"/>
          </a:p>
        </p:txBody>
      </p:sp>
    </p:spTree>
    <p:extLst>
      <p:ext uri="{BB962C8B-B14F-4D97-AF65-F5344CB8AC3E}">
        <p14:creationId xmlns:p14="http://schemas.microsoft.com/office/powerpoint/2010/main" val="261812011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Google Shape;121;p16"/>
          <p:cNvSpPr txBox="1">
            <a:spLocks noGrp="1"/>
          </p:cNvSpPr>
          <p:nvPr>
            <p:ph type="title"/>
          </p:nvPr>
        </p:nvSpPr>
        <p:spPr>
          <a:xfrm>
            <a:off x="153871" y="162125"/>
            <a:ext cx="10515601" cy="1325700"/>
          </a:xfrm>
          <a:prstGeom prst="rect">
            <a:avLst/>
          </a:prstGeom>
        </p:spPr>
        <p:txBody>
          <a:bodyPr/>
          <a:lstStyle>
            <a:lvl1pPr>
              <a:defRPr sz="4500" b="1"/>
            </a:lvl1pPr>
          </a:lstStyle>
          <a:p>
            <a:r>
              <a:rPr dirty="0">
                <a:latin typeface="Times New Roman" panose="02020603050405020304" pitchFamily="18" charset="0"/>
                <a:cs typeface="Times New Roman" panose="02020603050405020304" pitchFamily="18" charset="0"/>
              </a:rPr>
              <a:t> Conclusion</a:t>
            </a:r>
          </a:p>
        </p:txBody>
      </p:sp>
      <p:sp>
        <p:nvSpPr>
          <p:cNvPr id="170" name="Google Shape;122;p16"/>
          <p:cNvSpPr txBox="1">
            <a:spLocks noGrp="1"/>
          </p:cNvSpPr>
          <p:nvPr>
            <p:ph type="body" idx="1"/>
          </p:nvPr>
        </p:nvSpPr>
        <p:spPr>
          <a:xfrm>
            <a:off x="334443" y="1676669"/>
            <a:ext cx="11294339" cy="4575624"/>
          </a:xfrm>
          <a:prstGeom prst="rect">
            <a:avLst/>
          </a:prstGeom>
        </p:spPr>
        <p:txBody>
          <a:bodyPr anchor="t">
            <a:normAutofit/>
          </a:bodyPr>
          <a:lstStyle/>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The </a:t>
            </a:r>
            <a:r>
              <a:rPr lang="en-US" altLang="en-US" sz="2000" b="0" i="1" dirty="0">
                <a:solidFill>
                  <a:schemeClr val="tx1"/>
                </a:solidFill>
                <a:latin typeface="Times New Roman" panose="02020603050405020304" pitchFamily="18" charset="0"/>
                <a:cs typeface="Times New Roman" panose="02020603050405020304" pitchFamily="18" charset="0"/>
              </a:rPr>
              <a:t>Smart Shot</a:t>
            </a:r>
            <a:r>
              <a:rPr lang="en-US" altLang="en-US" sz="2000" b="0" dirty="0">
                <a:solidFill>
                  <a:schemeClr val="tx1"/>
                </a:solidFill>
                <a:latin typeface="Times New Roman" panose="02020603050405020304" pitchFamily="18" charset="0"/>
                <a:cs typeface="Times New Roman" panose="02020603050405020304" pitchFamily="18" charset="0"/>
              </a:rPr>
              <a:t> project demonstrates a functional integration of </a:t>
            </a:r>
            <a:r>
              <a:rPr lang="en-US" altLang="en-US" sz="2000" b="0" dirty="0" err="1">
                <a:solidFill>
                  <a:schemeClr val="tx1"/>
                </a:solidFill>
                <a:latin typeface="Times New Roman" panose="02020603050405020304" pitchFamily="18" charset="0"/>
                <a:cs typeface="Times New Roman" panose="02020603050405020304" pitchFamily="18" charset="0"/>
              </a:rPr>
              <a:t>IoT</a:t>
            </a:r>
            <a:r>
              <a:rPr lang="en-US" altLang="en-US" sz="2000" b="0" dirty="0">
                <a:solidFill>
                  <a:schemeClr val="tx1"/>
                </a:solidFill>
                <a:latin typeface="Times New Roman" panose="02020603050405020304" pitchFamily="18" charset="0"/>
                <a:cs typeface="Times New Roman" panose="02020603050405020304" pitchFamily="18" charset="0"/>
              </a:rPr>
              <a:t> and embedded systems using Bluetooth-controlled robotics.</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Utilizes widely available components like Arduino Nano, MG90s servo motors, HC-05 Bluetooth module, and LM2596 buck converter.</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Achieves real-time control over pan, tilt, and shooting mechanisms via a custom Android app.</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The design prioritizes modularity, low cost, and educational value—ideal for students, hobbyists, and demonstrations.</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Simplifies complex engineering concepts such as PWM, UART serial communication, and power regulation.</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Offers potential for future improvements like camera-based targeting, AI integration, or autonomous operation.</a:t>
            </a:r>
          </a:p>
          <a:p>
            <a:pPr marL="342900" lvl="0" indent="-342900" algn="just" eaLnBrk="0" fontAlgn="base" hangingPunct="0">
              <a:lnSpc>
                <a:spcPct val="100000"/>
              </a:lnSpc>
              <a:spcBef>
                <a:spcPct val="0"/>
              </a:spcBef>
              <a:spcAft>
                <a:spcPct val="0"/>
              </a:spcAft>
              <a:buFont typeface="Arial" panose="020B0604020202020204" pitchFamily="34" charset="0"/>
              <a:buChar char="•"/>
            </a:pPr>
            <a:r>
              <a:rPr lang="en-US" altLang="en-US" sz="2000" b="0" dirty="0">
                <a:solidFill>
                  <a:schemeClr val="tx1"/>
                </a:solidFill>
                <a:latin typeface="Times New Roman" panose="02020603050405020304" pitchFamily="18" charset="0"/>
                <a:cs typeface="Times New Roman" panose="02020603050405020304" pitchFamily="18" charset="0"/>
              </a:rPr>
              <a:t>Proves to be a reliable, responsive, and interactive system that enhances learning and      showcases modern wireless control techniques.</a:t>
            </a:r>
          </a:p>
          <a:p>
            <a:pPr marL="342900" lvl="0" indent="-342900" eaLnBrk="0" fontAlgn="base" hangingPunct="0">
              <a:lnSpc>
                <a:spcPct val="100000"/>
              </a:lnSpc>
              <a:spcBef>
                <a:spcPct val="0"/>
              </a:spcBef>
              <a:spcAft>
                <a:spcPct val="0"/>
              </a:spcAft>
              <a:buFont typeface="Arial" panose="020B0604020202020204" pitchFamily="34" charset="0"/>
              <a:buChar char="•"/>
            </a:pPr>
            <a:endParaRPr lang="en-US" altLang="en-US" sz="2000" b="0" dirty="0">
              <a:solidFill>
                <a:schemeClr val="tx1"/>
              </a:solidFill>
              <a:latin typeface="Times New Roman" panose="02020603050405020304" pitchFamily="18" charset="0"/>
              <a:cs typeface="Times New Roman" panose="02020603050405020304" pitchFamily="18" charset="0"/>
            </a:endParaRPr>
          </a:p>
          <a:p>
            <a:pPr marL="406400" indent="-342900">
              <a:lnSpc>
                <a:spcPct val="115000"/>
              </a:lnSpc>
              <a:spcBef>
                <a:spcPts val="1200"/>
              </a:spcBef>
              <a:buClr>
                <a:srgbClr val="000000"/>
              </a:buClr>
              <a:buSzPts val="2600"/>
              <a:buFont typeface="Arial" panose="020B0604020202020204" pitchFamily="34" charset="0"/>
              <a:buChar char="•"/>
              <a:defRPr sz="2600">
                <a:latin typeface="+mn-lt"/>
                <a:ea typeface="+mn-ea"/>
                <a:cs typeface="+mn-cs"/>
                <a:sym typeface="Arial"/>
              </a:defRPr>
            </a:pPr>
            <a:endParaRPr sz="2000" b="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597" y="365126"/>
            <a:ext cx="9680252" cy="993158"/>
          </a:xfrm>
        </p:spPr>
        <p:txBody>
          <a:bodyPr>
            <a:normAutofit/>
          </a:bodyPr>
          <a:lstStyle/>
          <a:p>
            <a:r>
              <a:rPr lang="en-US" sz="4500" b="1" dirty="0">
                <a:latin typeface="Times New Roman" panose="02020603050405020304" pitchFamily="18" charset="0"/>
                <a:cs typeface="Times New Roman" panose="02020603050405020304" pitchFamily="18" charset="0"/>
              </a:rPr>
              <a:t>  References</a:t>
            </a:r>
            <a:endParaRPr lang="en-IN" sz="4500" b="1" dirty="0">
              <a:latin typeface="Times New Roman" panose="02020603050405020304" pitchFamily="18" charset="0"/>
              <a:cs typeface="Times New Roman" panose="02020603050405020304" pitchFamily="18" charset="0"/>
            </a:endParaRPr>
          </a:p>
        </p:txBody>
      </p:sp>
      <p:sp>
        <p:nvSpPr>
          <p:cNvPr id="7" name="Rectangle 6"/>
          <p:cNvSpPr/>
          <p:nvPr/>
        </p:nvSpPr>
        <p:spPr>
          <a:xfrm>
            <a:off x="200597" y="1548066"/>
            <a:ext cx="11669186" cy="4503797"/>
          </a:xfrm>
          <a:prstGeom prst="rect">
            <a:avLst/>
          </a:prstGeom>
        </p:spPr>
        <p:txBody>
          <a:bodyPr wrap="square">
            <a:spAutoFit/>
          </a:bodyPr>
          <a:lstStyle/>
          <a:p>
            <a:pPr marL="342900" lvl="0" indent="-342900" algn="just">
              <a:spcAft>
                <a:spcPts val="800"/>
              </a:spcAft>
              <a:buFont typeface="Arial" panose="020B0604020202020204" pitchFamily="34" charset="0"/>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 Al-Fuqaha, M.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Guizani</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M. Mohammadi, M.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Aledhari</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and M. Ayyash, "Internet of Things: A Survey on Enabling Technologies, Protocols, and Applications,"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IEEE Communications Surveys &amp; Tutorials</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vol. 17, no. 4, pp. 2347–2376, 2015.</a:t>
            </a:r>
          </a:p>
          <a:p>
            <a:pPr marL="342900" lvl="0" indent="-342900" algn="just">
              <a:spcAft>
                <a:spcPts val="800"/>
              </a:spcAft>
              <a:buFont typeface="Arial" panose="020B0604020202020204" pitchFamily="34" charset="0"/>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Y. Zhang and J. Wen, "An IoT electric business model based on the protocol of MQTT,"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2016 18th International Conference on Advanced Communication Technology (ICACT)</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PyeongChang, South Korea, 2016, pp. 434–437.</a:t>
            </a:r>
          </a:p>
          <a:p>
            <a:pPr marL="342900" lvl="0" indent="-342900" algn="just">
              <a:spcAft>
                <a:spcPts val="800"/>
              </a:spcAft>
              <a:buFont typeface="Arial" panose="020B0604020202020204" pitchFamily="34" charset="0"/>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H. M. Hashemian, "State-of-the-Art in Nuclear Power Plant Control and Instrumentation and Its Evolution Into the Next Century,"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IEEE Transactions on Nuclear Science</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vol. 47, no. 3, pp. 1321–1328, Jun. 2000.</a:t>
            </a:r>
          </a:p>
          <a:p>
            <a:pPr marL="342900" lvl="0" indent="-342900" algn="just">
              <a:spcAft>
                <a:spcPts val="800"/>
              </a:spcAft>
              <a:buFont typeface="Arial" panose="020B0604020202020204" pitchFamily="34" charset="0"/>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 D. T. Kelly and N. K. Suryadevara, "Internet of Things (IoT) based sensor network for smart buildings,"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2013 IEEE International Conference on Systems, Man, and Cybernetics</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Manchester, UK, 2013.</a:t>
            </a:r>
          </a:p>
          <a:p>
            <a:pPr marL="342900" lvl="0" indent="-342900" algn="just">
              <a:spcAft>
                <a:spcPts val="800"/>
              </a:spcAft>
              <a:buFont typeface="Arial" panose="020B0604020202020204" pitchFamily="34" charset="0"/>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 S. Raut, P. N. Chavan, and N. N. Patil, "Smart Surveillance Security System Using IoT and Raspberry Pi,"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2018 Second International Conference on Intelligent Computing and Control Systems (ICICCS)</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Madurai, India, 2018.</a:t>
            </a:r>
          </a:p>
        </p:txBody>
      </p:sp>
    </p:spTree>
    <p:extLst>
      <p:ext uri="{BB962C8B-B14F-4D97-AF65-F5344CB8AC3E}">
        <p14:creationId xmlns:p14="http://schemas.microsoft.com/office/powerpoint/2010/main" val="211204946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Google Shape;115;p15"/>
          <p:cNvSpPr txBox="1">
            <a:spLocks noGrp="1"/>
          </p:cNvSpPr>
          <p:nvPr>
            <p:ph type="body" idx="1"/>
          </p:nvPr>
        </p:nvSpPr>
        <p:spPr>
          <a:xfrm>
            <a:off x="0" y="1338284"/>
            <a:ext cx="11991403" cy="4775133"/>
          </a:xfrm>
          <a:prstGeom prst="rect">
            <a:avLst/>
          </a:prstGeom>
        </p:spPr>
        <p:txBody>
          <a:bodyPr anchor="t">
            <a:noAutofit/>
          </a:bodyPr>
          <a:lstStyle/>
          <a:p>
            <a:pPr marL="514350" indent="-285750" algn="just">
              <a:lnSpc>
                <a:spcPct val="100000"/>
              </a:lnSpc>
              <a:buFont typeface="Arial" panose="020B0604020202020204" pitchFamily="34" charset="0"/>
              <a:buChar char="•"/>
            </a:pPr>
            <a:r>
              <a:rPr lang="en-IN" sz="2000" b="0" kern="100" dirty="0">
                <a:effectLst/>
                <a:latin typeface="Times New Roman" panose="02020603050405020304" pitchFamily="18" charset="0"/>
                <a:ea typeface="Calibri" panose="020F0502020204030204" pitchFamily="34" charset="0"/>
                <a:cs typeface="Times New Roman" panose="02020603050405020304" pitchFamily="18" charset="0"/>
              </a:rPr>
              <a:t>J. Gubbi, R. </a:t>
            </a:r>
            <a:r>
              <a:rPr lang="en-IN" sz="2000" b="0" kern="100" dirty="0" err="1">
                <a:effectLst/>
                <a:latin typeface="Times New Roman" panose="02020603050405020304" pitchFamily="18" charset="0"/>
                <a:ea typeface="Calibri" panose="020F0502020204030204" pitchFamily="34" charset="0"/>
                <a:cs typeface="Times New Roman" panose="02020603050405020304" pitchFamily="18" charset="0"/>
              </a:rPr>
              <a:t>Buyya</a:t>
            </a:r>
            <a:r>
              <a:rPr lang="en-IN" sz="2000" b="0" kern="100" dirty="0">
                <a:effectLst/>
                <a:latin typeface="Times New Roman" panose="02020603050405020304" pitchFamily="18" charset="0"/>
                <a:ea typeface="Calibri" panose="020F0502020204030204" pitchFamily="34" charset="0"/>
                <a:cs typeface="Times New Roman" panose="02020603050405020304" pitchFamily="18" charset="0"/>
              </a:rPr>
              <a:t>, S. Marusic, and M. </a:t>
            </a:r>
            <a:r>
              <a:rPr lang="en-IN" sz="2000" b="0" kern="100" dirty="0" err="1">
                <a:effectLst/>
                <a:latin typeface="Times New Roman" panose="02020603050405020304" pitchFamily="18" charset="0"/>
                <a:ea typeface="Calibri" panose="020F0502020204030204" pitchFamily="34" charset="0"/>
                <a:cs typeface="Times New Roman" panose="02020603050405020304" pitchFamily="18" charset="0"/>
              </a:rPr>
              <a:t>Palaniswami</a:t>
            </a:r>
            <a:r>
              <a:rPr lang="en-IN" sz="2000" b="0" kern="100" dirty="0">
                <a:effectLst/>
                <a:latin typeface="Times New Roman" panose="02020603050405020304" pitchFamily="18" charset="0"/>
                <a:ea typeface="Calibri" panose="020F0502020204030204" pitchFamily="34" charset="0"/>
                <a:cs typeface="Times New Roman" panose="02020603050405020304" pitchFamily="18" charset="0"/>
              </a:rPr>
              <a:t>, "Internet of Things (IoT): A vision, architectural elements, and future directions," </a:t>
            </a:r>
            <a:r>
              <a:rPr lang="en-IN" sz="2000" b="0" i="1" kern="100" dirty="0">
                <a:effectLst/>
                <a:latin typeface="Times New Roman" panose="02020603050405020304" pitchFamily="18" charset="0"/>
                <a:ea typeface="Calibri" panose="020F0502020204030204" pitchFamily="34" charset="0"/>
                <a:cs typeface="Times New Roman" panose="02020603050405020304" pitchFamily="18" charset="0"/>
              </a:rPr>
              <a:t>Future Generation Computer Systems</a:t>
            </a:r>
            <a:r>
              <a:rPr lang="en-IN" sz="2000" b="0" kern="100" dirty="0">
                <a:effectLst/>
                <a:latin typeface="Times New Roman" panose="02020603050405020304" pitchFamily="18" charset="0"/>
                <a:ea typeface="Calibri" panose="020F0502020204030204" pitchFamily="34" charset="0"/>
                <a:cs typeface="Times New Roman" panose="02020603050405020304" pitchFamily="18" charset="0"/>
              </a:rPr>
              <a:t>, vol. 29, no. 7, pp. 1645–1660, Sep. 2013.</a:t>
            </a:r>
            <a:endParaRPr lang="en-IN" sz="2000" b="0" dirty="0">
              <a:latin typeface="Times New Roman" panose="02020603050405020304" pitchFamily="18" charset="0"/>
              <a:cs typeface="Times New Roman" panose="02020603050405020304" pitchFamily="18" charset="0"/>
            </a:endParaRPr>
          </a:p>
          <a:p>
            <a:pPr marL="514350" indent="-285750" algn="just">
              <a:lnSpc>
                <a:spcPct val="100000"/>
              </a:lnSpc>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N. T. </a:t>
            </a:r>
            <a:r>
              <a:rPr lang="en-IN" sz="2000" b="0" dirty="0" err="1">
                <a:latin typeface="Times New Roman" panose="02020603050405020304" pitchFamily="18" charset="0"/>
                <a:cs typeface="Times New Roman" panose="02020603050405020304" pitchFamily="18" charset="0"/>
              </a:rPr>
              <a:t>Ayrekar</a:t>
            </a:r>
            <a:r>
              <a:rPr lang="en-IN" sz="2000" b="0" dirty="0">
                <a:latin typeface="Times New Roman" panose="02020603050405020304" pitchFamily="18" charset="0"/>
                <a:cs typeface="Times New Roman" panose="02020603050405020304" pitchFamily="18" charset="0"/>
              </a:rPr>
              <a:t>, S. </a:t>
            </a:r>
            <a:r>
              <a:rPr lang="en-IN" sz="2000" b="0" dirty="0" err="1">
                <a:latin typeface="Times New Roman" panose="02020603050405020304" pitchFamily="18" charset="0"/>
                <a:cs typeface="Times New Roman" panose="02020603050405020304" pitchFamily="18" charset="0"/>
              </a:rPr>
              <a:t>Patil</a:t>
            </a:r>
            <a:r>
              <a:rPr lang="en-IN" sz="2000" b="0" dirty="0">
                <a:latin typeface="Times New Roman" panose="02020603050405020304" pitchFamily="18" charset="0"/>
                <a:cs typeface="Times New Roman" panose="02020603050405020304" pitchFamily="18" charset="0"/>
              </a:rPr>
              <a:t>, A. </a:t>
            </a:r>
            <a:r>
              <a:rPr lang="en-IN" sz="2000" b="0" dirty="0" err="1">
                <a:latin typeface="Times New Roman" panose="02020603050405020304" pitchFamily="18" charset="0"/>
                <a:cs typeface="Times New Roman" panose="02020603050405020304" pitchFamily="18" charset="0"/>
              </a:rPr>
              <a:t>Borse</a:t>
            </a:r>
            <a:r>
              <a:rPr lang="en-IN" sz="2000" b="0" dirty="0">
                <a:latin typeface="Times New Roman" panose="02020603050405020304" pitchFamily="18" charset="0"/>
                <a:cs typeface="Times New Roman" panose="02020603050405020304" pitchFamily="18" charset="0"/>
              </a:rPr>
              <a:t>, and K. </a:t>
            </a:r>
            <a:r>
              <a:rPr lang="en-IN" sz="2000" b="0" dirty="0" err="1">
                <a:latin typeface="Times New Roman" panose="02020603050405020304" pitchFamily="18" charset="0"/>
                <a:cs typeface="Times New Roman" panose="02020603050405020304" pitchFamily="18" charset="0"/>
              </a:rPr>
              <a:t>Patil</a:t>
            </a:r>
            <a:r>
              <a:rPr lang="en-IN" sz="2000" b="0" dirty="0">
                <a:latin typeface="Times New Roman" panose="02020603050405020304" pitchFamily="18" charset="0"/>
                <a:cs typeface="Times New Roman" panose="02020603050405020304" pitchFamily="18" charset="0"/>
              </a:rPr>
              <a:t>, "Design and implementation of a robotic arm using Arduino," </a:t>
            </a:r>
            <a:r>
              <a:rPr lang="en-IN" sz="2000" b="0" i="1" dirty="0">
                <a:latin typeface="Times New Roman" panose="02020603050405020304" pitchFamily="18" charset="0"/>
                <a:cs typeface="Times New Roman" panose="02020603050405020304" pitchFamily="18" charset="0"/>
              </a:rPr>
              <a:t>2017 International Conference on Computing, Communication, Control and Automation (ICCUBEA)</a:t>
            </a:r>
            <a:r>
              <a:rPr lang="en-IN" sz="2000" b="0" dirty="0">
                <a:latin typeface="Times New Roman" panose="02020603050405020304" pitchFamily="18" charset="0"/>
                <a:cs typeface="Times New Roman" panose="02020603050405020304" pitchFamily="18" charset="0"/>
              </a:rPr>
              <a:t>, Pune, India, 2017.</a:t>
            </a:r>
          </a:p>
          <a:p>
            <a:pPr marL="514350" indent="-285750" algn="just">
              <a:lnSpc>
                <a:spcPct val="100000"/>
              </a:lnSpc>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R. </a:t>
            </a:r>
            <a:r>
              <a:rPr lang="en-IN" sz="2000" b="0" dirty="0" err="1">
                <a:latin typeface="Times New Roman" panose="02020603050405020304" pitchFamily="18" charset="0"/>
                <a:cs typeface="Times New Roman" panose="02020603050405020304" pitchFamily="18" charset="0"/>
              </a:rPr>
              <a:t>Motwani</a:t>
            </a:r>
            <a:r>
              <a:rPr lang="en-IN" sz="2000" b="0" dirty="0">
                <a:latin typeface="Times New Roman" panose="02020603050405020304" pitchFamily="18" charset="0"/>
                <a:cs typeface="Times New Roman" panose="02020603050405020304" pitchFamily="18" charset="0"/>
              </a:rPr>
              <a:t>, D. </a:t>
            </a:r>
            <a:r>
              <a:rPr lang="en-IN" sz="2000" b="0" dirty="0" err="1">
                <a:latin typeface="Times New Roman" panose="02020603050405020304" pitchFamily="18" charset="0"/>
                <a:cs typeface="Times New Roman" panose="02020603050405020304" pitchFamily="18" charset="0"/>
              </a:rPr>
              <a:t>Rajpoot</a:t>
            </a:r>
            <a:r>
              <a:rPr lang="en-IN" sz="2000" b="0" dirty="0">
                <a:latin typeface="Times New Roman" panose="02020603050405020304" pitchFamily="18" charset="0"/>
                <a:cs typeface="Times New Roman" panose="02020603050405020304" pitchFamily="18" charset="0"/>
              </a:rPr>
              <a:t>, and M. Sharma, “Bluetooth Controlled Surveillance Rover,” </a:t>
            </a:r>
            <a:r>
              <a:rPr lang="en-IN" sz="2000" b="0" i="1" dirty="0">
                <a:latin typeface="Times New Roman" panose="02020603050405020304" pitchFamily="18" charset="0"/>
                <a:cs typeface="Times New Roman" panose="02020603050405020304" pitchFamily="18" charset="0"/>
              </a:rPr>
              <a:t>International Journal of Scientific Research in Computer Science, Engineering and Information Technology</a:t>
            </a:r>
            <a:r>
              <a:rPr lang="en-IN" sz="2000" b="0" dirty="0">
                <a:latin typeface="Times New Roman" panose="02020603050405020304" pitchFamily="18" charset="0"/>
                <a:cs typeface="Times New Roman" panose="02020603050405020304" pitchFamily="18" charset="0"/>
              </a:rPr>
              <a:t>, vol. 3, no. 3, pp. 1363–1368, 2018.</a:t>
            </a:r>
          </a:p>
          <a:p>
            <a:pPr marL="514350" indent="-285750" algn="just">
              <a:lnSpc>
                <a:spcPct val="100000"/>
              </a:lnSpc>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A. Sharma, A. </a:t>
            </a:r>
            <a:r>
              <a:rPr lang="en-IN" sz="2000" b="0" dirty="0" err="1">
                <a:latin typeface="Times New Roman" panose="02020603050405020304" pitchFamily="18" charset="0"/>
                <a:cs typeface="Times New Roman" panose="02020603050405020304" pitchFamily="18" charset="0"/>
              </a:rPr>
              <a:t>Kumari</a:t>
            </a:r>
            <a:r>
              <a:rPr lang="en-IN" sz="2000" b="0" dirty="0">
                <a:latin typeface="Times New Roman" panose="02020603050405020304" pitchFamily="18" charset="0"/>
                <a:cs typeface="Times New Roman" panose="02020603050405020304" pitchFamily="18" charset="0"/>
              </a:rPr>
              <a:t>, and V. Sharma, "Design and development of Bluetooth controlled car system using Arduino Uno," </a:t>
            </a:r>
            <a:r>
              <a:rPr lang="en-IN" sz="2000" b="0" i="1" dirty="0">
                <a:latin typeface="Times New Roman" panose="02020603050405020304" pitchFamily="18" charset="0"/>
                <a:cs typeface="Times New Roman" panose="02020603050405020304" pitchFamily="18" charset="0"/>
              </a:rPr>
              <a:t>International Journal of Engineering Research &amp; Technology (IJERT)</a:t>
            </a:r>
            <a:r>
              <a:rPr lang="en-IN" sz="2000" b="0" dirty="0">
                <a:latin typeface="Times New Roman" panose="02020603050405020304" pitchFamily="18" charset="0"/>
                <a:cs typeface="Times New Roman" panose="02020603050405020304" pitchFamily="18" charset="0"/>
              </a:rPr>
              <a:t>, vol. 6, no. 4, pp. 442–445, Apr. 2017.</a:t>
            </a:r>
          </a:p>
          <a:p>
            <a:pPr marL="514350" indent="-285750" algn="just">
              <a:lnSpc>
                <a:spcPct val="100000"/>
              </a:lnSpc>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D. Mancini and F. </a:t>
            </a:r>
            <a:r>
              <a:rPr lang="en-IN" sz="2000" b="0" dirty="0" err="1">
                <a:latin typeface="Times New Roman" panose="02020603050405020304" pitchFamily="18" charset="0"/>
                <a:cs typeface="Times New Roman" panose="02020603050405020304" pitchFamily="18" charset="0"/>
              </a:rPr>
              <a:t>Moschetti</a:t>
            </a:r>
            <a:r>
              <a:rPr lang="en-IN" sz="2000" b="0" dirty="0">
                <a:latin typeface="Times New Roman" panose="02020603050405020304" pitchFamily="18" charset="0"/>
                <a:cs typeface="Times New Roman" panose="02020603050405020304" pitchFamily="18" charset="0"/>
              </a:rPr>
              <a:t>, “Vision-Based Automatic Nerf Gun Turret,” </a:t>
            </a:r>
            <a:r>
              <a:rPr lang="en-IN" sz="2000" b="0" i="1" dirty="0">
                <a:latin typeface="Times New Roman" panose="02020603050405020304" pitchFamily="18" charset="0"/>
                <a:cs typeface="Times New Roman" panose="02020603050405020304" pitchFamily="18" charset="0"/>
              </a:rPr>
              <a:t>IDA Labs Research Projects</a:t>
            </a:r>
            <a:r>
              <a:rPr lang="en-IN" sz="2000" b="0" dirty="0">
                <a:latin typeface="Times New Roman" panose="02020603050405020304" pitchFamily="18" charset="0"/>
                <a:cs typeface="Times New Roman" panose="02020603050405020304" pitchFamily="18" charset="0"/>
              </a:rPr>
              <a:t>, 2019.</a:t>
            </a:r>
          </a:p>
          <a:p>
            <a:pPr marL="514350" indent="-285750" algn="just">
              <a:lnSpc>
                <a:spcPct val="100000"/>
              </a:lnSpc>
              <a:buFont typeface="Arial" panose="020B0604020202020204" pitchFamily="34" charset="0"/>
              <a:buChar char="•"/>
            </a:pPr>
            <a:r>
              <a:rPr lang="en-IN" sz="2000" b="0" dirty="0">
                <a:latin typeface="Times New Roman" panose="02020603050405020304" pitchFamily="18" charset="0"/>
                <a:cs typeface="Times New Roman" panose="02020603050405020304" pitchFamily="18" charset="0"/>
              </a:rPr>
              <a:t>S. Bose and A. Pal, "Design of low-cost </a:t>
            </a:r>
            <a:r>
              <a:rPr lang="en-IN" sz="2000" b="0" dirty="0" err="1">
                <a:latin typeface="Times New Roman" panose="02020603050405020304" pitchFamily="18" charset="0"/>
                <a:cs typeface="Times New Roman" panose="02020603050405020304" pitchFamily="18" charset="0"/>
              </a:rPr>
              <a:t>IoT</a:t>
            </a:r>
            <a:r>
              <a:rPr lang="en-IN" sz="2000" b="0" dirty="0">
                <a:latin typeface="Times New Roman" panose="02020603050405020304" pitchFamily="18" charset="0"/>
                <a:cs typeface="Times New Roman" panose="02020603050405020304" pitchFamily="18" charset="0"/>
              </a:rPr>
              <a:t> based surveillance robot using Raspberry Pi and camera module," </a:t>
            </a:r>
            <a:r>
              <a:rPr lang="en-IN" sz="2000" b="0" i="1" dirty="0">
                <a:latin typeface="Times New Roman" panose="02020603050405020304" pitchFamily="18" charset="0"/>
                <a:cs typeface="Times New Roman" panose="02020603050405020304" pitchFamily="18" charset="0"/>
              </a:rPr>
              <a:t>International Journal of Engineering Research &amp; Technology</a:t>
            </a:r>
            <a:r>
              <a:rPr lang="en-IN" sz="2000" b="0" dirty="0">
                <a:latin typeface="Times New Roman" panose="02020603050405020304" pitchFamily="18" charset="0"/>
                <a:cs typeface="Times New Roman" panose="02020603050405020304" pitchFamily="18" charset="0"/>
              </a:rPr>
              <a:t>, vol. 8, no. 5, 2019</a:t>
            </a:r>
          </a:p>
        </p:txBody>
      </p:sp>
      <p:sp>
        <p:nvSpPr>
          <p:cNvPr id="2" name="Title 1">
            <a:extLst>
              <a:ext uri="{FF2B5EF4-FFF2-40B4-BE49-F238E27FC236}">
                <a16:creationId xmlns:a16="http://schemas.microsoft.com/office/drawing/2014/main" id="{B3B8F912-A615-8547-823B-4018C619D98B}"/>
              </a:ext>
            </a:extLst>
          </p:cNvPr>
          <p:cNvSpPr>
            <a:spLocks noGrp="1"/>
          </p:cNvSpPr>
          <p:nvPr>
            <p:ph type="title"/>
          </p:nvPr>
        </p:nvSpPr>
        <p:spPr>
          <a:xfrm>
            <a:off x="200597" y="365126"/>
            <a:ext cx="9680252" cy="993158"/>
          </a:xfrm>
        </p:spPr>
        <p:txBody>
          <a:bodyPr>
            <a:normAutofit/>
          </a:bodyPr>
          <a:lstStyle/>
          <a:p>
            <a:r>
              <a:rPr lang="en-US" sz="4500" b="1" dirty="0">
                <a:latin typeface="Times New Roman" panose="02020603050405020304" pitchFamily="18" charset="0"/>
                <a:cs typeface="Times New Roman" panose="02020603050405020304" pitchFamily="18" charset="0"/>
              </a:rPr>
              <a:t> References</a:t>
            </a:r>
            <a:endParaRPr lang="en-IN" sz="4500" b="1"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134</TotalTime>
  <Words>1704</Words>
  <Application>Microsoft Macintosh PowerPoint</Application>
  <PresentationFormat>Widescreen</PresentationFormat>
  <Paragraphs>144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Google Sans</vt:lpstr>
      <vt:lpstr>Times New Roman</vt:lpstr>
      <vt:lpstr>Wingdings</vt:lpstr>
      <vt:lpstr>Office Theme</vt:lpstr>
      <vt:lpstr>Smart Shot:Iot Nerf Turret With Bluetooth Control </vt:lpstr>
      <vt:lpstr>Index of Contents</vt:lpstr>
      <vt:lpstr> Introduction</vt:lpstr>
      <vt:lpstr>Problem Statement</vt:lpstr>
      <vt:lpstr>Challenges &amp; Solutions</vt:lpstr>
      <vt:lpstr>Feasibility Study</vt:lpstr>
      <vt:lpstr>Technology Stack</vt:lpstr>
      <vt:lpstr>3-D Model </vt:lpstr>
      <vt:lpstr> Hardware Components</vt:lpstr>
      <vt:lpstr>  Connection Diagram- </vt:lpstr>
      <vt:lpstr>PowerPoint Presentation</vt:lpstr>
      <vt:lpstr>PowerPoint Presentation</vt:lpstr>
      <vt:lpstr>  Budget</vt:lpstr>
      <vt:lpstr>PowerPoint Presentation</vt:lpstr>
      <vt:lpstr> Conclusion</vt:lpstr>
      <vt:lpstr>  References</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Practicum Presentation:  Smart Shot:Iot Nerf Turret With Bluetooth Control </dc:title>
  <cp:lastModifiedBy>Microsoft Office User</cp:lastModifiedBy>
  <cp:revision>17</cp:revision>
  <dcterms:modified xsi:type="dcterms:W3CDTF">2026-03-28T09:25:25Z</dcterms:modified>
</cp:coreProperties>
</file>